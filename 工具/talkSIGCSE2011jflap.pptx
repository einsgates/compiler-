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74" r:id="rId8"/>
    <p:sldId id="275" r:id="rId9"/>
    <p:sldId id="276" r:id="rId10"/>
    <p:sldId id="277" r:id="rId11"/>
    <p:sldId id="263" r:id="rId12"/>
    <p:sldId id="265" r:id="rId13"/>
    <p:sldId id="266" r:id="rId14"/>
    <p:sldId id="264" r:id="rId15"/>
    <p:sldId id="267" r:id="rId16"/>
    <p:sldId id="290" r:id="rId17"/>
    <p:sldId id="291" r:id="rId18"/>
    <p:sldId id="292" r:id="rId19"/>
    <p:sldId id="293" r:id="rId20"/>
    <p:sldId id="268" r:id="rId21"/>
    <p:sldId id="269" r:id="rId22"/>
    <p:sldId id="270" r:id="rId23"/>
    <p:sldId id="294" r:id="rId24"/>
    <p:sldId id="295" r:id="rId25"/>
    <p:sldId id="296" r:id="rId26"/>
    <p:sldId id="297" r:id="rId27"/>
    <p:sldId id="304" r:id="rId28"/>
    <p:sldId id="282" r:id="rId29"/>
    <p:sldId id="283" r:id="rId30"/>
    <p:sldId id="284" r:id="rId31"/>
    <p:sldId id="285" r:id="rId32"/>
    <p:sldId id="286" r:id="rId33"/>
    <p:sldId id="287" r:id="rId34"/>
    <p:sldId id="300" r:id="rId35"/>
    <p:sldId id="288" r:id="rId36"/>
    <p:sldId id="289" r:id="rId37"/>
    <p:sldId id="301" r:id="rId38"/>
    <p:sldId id="302" r:id="rId39"/>
    <p:sldId id="271" r:id="rId40"/>
    <p:sldId id="303" r:id="rId41"/>
    <p:sldId id="298" r:id="rId42"/>
    <p:sldId id="299" r:id="rId43"/>
    <p:sldId id="272" r:id="rId44"/>
    <p:sldId id="273" r:id="rId45"/>
    <p:sldId id="278" r:id="rId46"/>
    <p:sldId id="279" r:id="rId47"/>
    <p:sldId id="280" r:id="rId4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38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B101-6FA1-4131-B5E0-B0EB9BB8B924}" type="datetimeFigureOut">
              <a:rPr lang="en-US" smtClean="0"/>
              <a:t>3/9/2011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28F5D-8885-434D-ABAB-0AF267756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98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B101-6FA1-4131-B5E0-B0EB9BB8B924}" type="datetimeFigureOut">
              <a:rPr lang="en-US" smtClean="0"/>
              <a:t>3/9/2011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28F5D-8885-434D-ABAB-0AF267756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52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B101-6FA1-4131-B5E0-B0EB9BB8B924}" type="datetimeFigureOut">
              <a:rPr lang="en-US" smtClean="0"/>
              <a:t>3/9/2011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28F5D-8885-434D-ABAB-0AF267756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499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B101-6FA1-4131-B5E0-B0EB9BB8B924}" type="datetimeFigureOut">
              <a:rPr lang="en-US" smtClean="0"/>
              <a:t>3/9/2011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28F5D-8885-434D-ABAB-0AF267756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4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B101-6FA1-4131-B5E0-B0EB9BB8B924}" type="datetimeFigureOut">
              <a:rPr lang="en-US" smtClean="0"/>
              <a:t>3/9/2011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28F5D-8885-434D-ABAB-0AF267756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52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B101-6FA1-4131-B5E0-B0EB9BB8B924}" type="datetimeFigureOut">
              <a:rPr lang="en-US" smtClean="0"/>
              <a:t>3/9/2011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28F5D-8885-434D-ABAB-0AF267756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2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B101-6FA1-4131-B5E0-B0EB9BB8B924}" type="datetimeFigureOut">
              <a:rPr lang="en-US" smtClean="0"/>
              <a:t>3/9/2011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28F5D-8885-434D-ABAB-0AF267756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808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B101-6FA1-4131-B5E0-B0EB9BB8B924}" type="datetimeFigureOut">
              <a:rPr lang="en-US" smtClean="0"/>
              <a:t>3/9/2011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28F5D-8885-434D-ABAB-0AF267756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8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B101-6FA1-4131-B5E0-B0EB9BB8B924}" type="datetimeFigureOut">
              <a:rPr lang="en-US" smtClean="0"/>
              <a:t>3/9/2011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28F5D-8885-434D-ABAB-0AF267756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143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B101-6FA1-4131-B5E0-B0EB9BB8B924}" type="datetimeFigureOut">
              <a:rPr lang="en-US" smtClean="0"/>
              <a:t>3/9/2011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28F5D-8885-434D-ABAB-0AF267756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368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B101-6FA1-4131-B5E0-B0EB9BB8B924}" type="datetimeFigureOut">
              <a:rPr lang="en-US" smtClean="0"/>
              <a:t>3/9/2011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28F5D-8885-434D-ABAB-0AF267756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945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E808231E-09D7-479B-B5E4-51075EFD023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721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B8B101-6FA1-4131-B5E0-B0EB9BB8B924}" type="datetimeFigureOut">
              <a:rPr lang="en-US" smtClean="0"/>
              <a:t>3/9/2011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728F5D-8885-434D-ABAB-0AF267756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813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7" Type="http://schemas.openxmlformats.org/officeDocument/2006/relationships/image" Target="../media/image27.png"/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gi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://www.jflap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An Interactive Approach to Formal Languages and Automata with JFLAP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00400"/>
            <a:ext cx="6400800" cy="33528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Susan H. Rodger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Duke University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rodger@cs.duke.edu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SIGCSE 2011 </a:t>
            </a:r>
            <a:r>
              <a:rPr lang="en-US" dirty="0" err="1" smtClean="0">
                <a:solidFill>
                  <a:schemeClr val="tx1"/>
                </a:solidFill>
              </a:rPr>
              <a:t>AlgoViz</a:t>
            </a:r>
            <a:r>
              <a:rPr lang="en-US" dirty="0" smtClean="0">
                <a:solidFill>
                  <a:schemeClr val="tx1"/>
                </a:solidFill>
              </a:rPr>
              <a:t> Workshop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March 9, 2011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 descr="jflapLogo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3429000"/>
            <a:ext cx="1905000" cy="1514475"/>
          </a:xfrm>
          <a:prstGeom prst="rect">
            <a:avLst/>
          </a:prstGeom>
        </p:spPr>
      </p:pic>
      <p:pic>
        <p:nvPicPr>
          <p:cNvPr id="6" name="Picture 5" descr="parseTre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97336" y="3352800"/>
            <a:ext cx="2746664" cy="17430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752600" y="2057400"/>
            <a:ext cx="60555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rgbClr val="FF0000"/>
                </a:solidFill>
              </a:rPr>
              <a:t> NSF Grant DUE CCLI-EMD 0442513</a:t>
            </a:r>
            <a:endParaRPr lang="en-US" sz="3200" dirty="0"/>
          </a:p>
        </p:txBody>
      </p:sp>
      <p:pic>
        <p:nvPicPr>
          <p:cNvPr id="8" name="Picture 5" descr="D:\talks\talkDPSMay07\nsfsm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2000" y="1981200"/>
            <a:ext cx="731838" cy="7429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37282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Formal Languages and Automata Theory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525963"/>
          </a:xfrm>
        </p:spPr>
        <p:txBody>
          <a:bodyPr/>
          <a:lstStyle/>
          <a:p>
            <a:r>
              <a:rPr lang="en-US" dirty="0"/>
              <a:t>Traditionally taught</a:t>
            </a:r>
          </a:p>
          <a:p>
            <a:pPr lvl="1"/>
            <a:r>
              <a:rPr lang="en-US" dirty="0"/>
              <a:t>Pencil and paper exercises</a:t>
            </a:r>
          </a:p>
          <a:p>
            <a:pPr lvl="1"/>
            <a:r>
              <a:rPr lang="en-US" dirty="0"/>
              <a:t>No immediate feedback</a:t>
            </a:r>
          </a:p>
          <a:p>
            <a:r>
              <a:rPr lang="en-US" dirty="0"/>
              <a:t>Different</a:t>
            </a:r>
          </a:p>
          <a:p>
            <a:pPr lvl="1"/>
            <a:r>
              <a:rPr lang="en-US" dirty="0"/>
              <a:t>More mathematical than most CS courses</a:t>
            </a:r>
          </a:p>
          <a:p>
            <a:pPr lvl="1"/>
            <a:r>
              <a:rPr lang="en-US" dirty="0"/>
              <a:t>Less hands-on than most CS </a:t>
            </a:r>
            <a:r>
              <a:rPr lang="en-US" dirty="0" smtClean="0"/>
              <a:t>courses</a:t>
            </a:r>
          </a:p>
          <a:p>
            <a:pPr lvl="1"/>
            <a:r>
              <a:rPr lang="en-US" dirty="0" smtClean="0"/>
              <a:t>Programming is in most of their CS courses, not here</a:t>
            </a:r>
          </a:p>
        </p:txBody>
      </p:sp>
    </p:spTree>
    <p:extLst>
      <p:ext uri="{BB962C8B-B14F-4D97-AF65-F5344CB8AC3E}">
        <p14:creationId xmlns:p14="http://schemas.microsoft.com/office/powerpoint/2010/main" val="1630749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68288" y="374650"/>
            <a:ext cx="8626475" cy="679450"/>
          </a:xfrm>
        </p:spPr>
        <p:txBody>
          <a:bodyPr>
            <a:normAutofit fontScale="90000"/>
          </a:bodyPr>
          <a:lstStyle/>
          <a:p>
            <a:r>
              <a:rPr lang="en-US"/>
              <a:t>Why Develop Tools for Automata?</a:t>
            </a:r>
          </a:p>
        </p:txBody>
      </p:sp>
      <p:graphicFrame>
        <p:nvGraphicFramePr>
          <p:cNvPr id="6147" name="Group 3"/>
          <p:cNvGraphicFramePr>
            <a:graphicFrameLocks noGrp="1"/>
          </p:cNvGraphicFramePr>
          <p:nvPr>
            <p:ph type="tbl" idx="1"/>
          </p:nvPr>
        </p:nvGraphicFramePr>
        <p:xfrm>
          <a:off x="685801" y="1143000"/>
          <a:ext cx="7696200" cy="5622174"/>
        </p:xfrm>
        <a:graphic>
          <a:graphicData uri="http://schemas.openxmlformats.org/drawingml/2006/table">
            <a:tbl>
              <a:tblPr/>
              <a:tblGrid>
                <a:gridCol w="3848100"/>
                <a:gridCol w="3848100"/>
              </a:tblGrid>
              <a:tr h="1066800">
                <a:tc>
                  <a:txBody>
                    <a:bodyPr/>
                    <a:lstStyle/>
                    <a:p>
                      <a:pPr marL="3175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Textual</a:t>
                      </a:r>
                    </a:p>
                  </a:txBody>
                  <a:tcPr marL="64291" marR="64291" marT="32146" marB="3214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175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cs typeface="Times New Roman" charset="0"/>
                      </a:endParaRPr>
                    </a:p>
                  </a:txBody>
                  <a:tcPr marL="64291" marR="64291" marT="32146" marB="321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45920">
                <a:tc>
                  <a:txBody>
                    <a:bodyPr/>
                    <a:lstStyle/>
                    <a:p>
                      <a:pPr marL="3175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Tabular</a:t>
                      </a:r>
                    </a:p>
                  </a:txBody>
                  <a:tcPr marL="64291" marR="64291" marT="32146" marB="3214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175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cs typeface="Times New Roman" charset="0"/>
                      </a:endParaRPr>
                    </a:p>
                  </a:txBody>
                  <a:tcPr marL="64291" marR="64291" marT="32146" marB="321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29294">
                <a:tc>
                  <a:txBody>
                    <a:bodyPr/>
                    <a:lstStyle/>
                    <a:p>
                      <a:pPr marL="3175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Visual</a:t>
                      </a:r>
                    </a:p>
                  </a:txBody>
                  <a:tcPr marL="64291" marR="64291" marT="32146" marB="3214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175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cs typeface="Times New Roman" charset="0"/>
                      </a:endParaRPr>
                    </a:p>
                  </a:txBody>
                  <a:tcPr marL="64291" marR="64291" marT="32146" marB="321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marL="3175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Interactive</a:t>
                      </a:r>
                    </a:p>
                  </a:txBody>
                  <a:tcPr marL="64291" marR="64291" marT="32146" marB="3214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175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cs typeface="Times New Roman" charset="0"/>
                      </a:endParaRPr>
                    </a:p>
                  </a:txBody>
                  <a:tcPr marL="64291" marR="64291" marT="32146" marB="321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6166" name="Picture 22" descr="D:\talkcse04\textual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1371600"/>
            <a:ext cx="3657600" cy="584200"/>
          </a:xfrm>
          <a:prstGeom prst="rect">
            <a:avLst/>
          </a:prstGeom>
          <a:noFill/>
        </p:spPr>
      </p:pic>
      <p:pic>
        <p:nvPicPr>
          <p:cNvPr id="6167" name="Picture 23" descr="D:\talkcse04\tabular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1200" y="2438400"/>
            <a:ext cx="1219200" cy="1120775"/>
          </a:xfrm>
          <a:prstGeom prst="rect">
            <a:avLst/>
          </a:prstGeom>
          <a:noFill/>
        </p:spPr>
      </p:pic>
      <p:pic>
        <p:nvPicPr>
          <p:cNvPr id="6168" name="Picture 24" descr="D:\talkcse04\visual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81600" y="4191000"/>
            <a:ext cx="2506663" cy="868363"/>
          </a:xfrm>
          <a:prstGeom prst="rect">
            <a:avLst/>
          </a:prstGeom>
          <a:noFill/>
        </p:spPr>
      </p:pic>
      <p:pic>
        <p:nvPicPr>
          <p:cNvPr id="6169" name="Picture 25" descr="D:\talkcse04\interactive.g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257800" y="5715000"/>
            <a:ext cx="2611438" cy="9318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238869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381000"/>
            <a:ext cx="5638800" cy="762000"/>
          </a:xfrm>
        </p:spPr>
        <p:txBody>
          <a:bodyPr/>
          <a:lstStyle/>
          <a:p>
            <a:r>
              <a:rPr lang="en-US"/>
              <a:t>Overview of JFLAP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7772400" cy="5257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b="1"/>
              <a:t>J</a:t>
            </a:r>
            <a:r>
              <a:rPr lang="en-US"/>
              <a:t>ava </a:t>
            </a:r>
            <a:r>
              <a:rPr lang="en-US" b="1"/>
              <a:t>F</a:t>
            </a:r>
            <a:r>
              <a:rPr lang="en-US"/>
              <a:t>ormal </a:t>
            </a:r>
            <a:r>
              <a:rPr lang="en-US" b="1"/>
              <a:t>L</a:t>
            </a:r>
            <a:r>
              <a:rPr lang="en-US"/>
              <a:t>anguages and </a:t>
            </a:r>
            <a:r>
              <a:rPr lang="en-US" b="1"/>
              <a:t>A</a:t>
            </a:r>
            <a:r>
              <a:rPr lang="en-US"/>
              <a:t>utomata </a:t>
            </a:r>
            <a:r>
              <a:rPr lang="en-US" b="1"/>
              <a:t>P</a:t>
            </a:r>
            <a:r>
              <a:rPr lang="en-US"/>
              <a:t>ackage</a:t>
            </a:r>
          </a:p>
          <a:p>
            <a:pPr>
              <a:lnSpc>
                <a:spcPct val="90000"/>
              </a:lnSpc>
            </a:pPr>
            <a:r>
              <a:rPr lang="en-US"/>
              <a:t>Instructional tool to learn concepts of Formal Languages and Automata Theory</a:t>
            </a:r>
          </a:p>
          <a:p>
            <a:pPr>
              <a:lnSpc>
                <a:spcPct val="90000"/>
              </a:lnSpc>
            </a:pPr>
            <a:r>
              <a:rPr lang="en-US"/>
              <a:t>Topics:</a:t>
            </a:r>
          </a:p>
          <a:p>
            <a:pPr lvl="1">
              <a:lnSpc>
                <a:spcPct val="90000"/>
              </a:lnSpc>
            </a:pPr>
            <a:r>
              <a:rPr lang="en-US"/>
              <a:t>Regular Languages</a:t>
            </a:r>
          </a:p>
          <a:p>
            <a:pPr lvl="1">
              <a:lnSpc>
                <a:spcPct val="90000"/>
              </a:lnSpc>
            </a:pPr>
            <a:r>
              <a:rPr lang="en-US"/>
              <a:t>Context-Free Languages</a:t>
            </a:r>
          </a:p>
          <a:p>
            <a:pPr lvl="1">
              <a:lnSpc>
                <a:spcPct val="90000"/>
              </a:lnSpc>
            </a:pPr>
            <a:r>
              <a:rPr lang="en-US"/>
              <a:t>Recursively Enumerable Languages</a:t>
            </a:r>
          </a:p>
          <a:p>
            <a:pPr lvl="1">
              <a:lnSpc>
                <a:spcPct val="90000"/>
              </a:lnSpc>
            </a:pPr>
            <a:r>
              <a:rPr lang="en-US"/>
              <a:t>Lsystems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rgbClr val="FF0000"/>
                </a:solidFill>
              </a:rPr>
              <a:t>With JFLAP your creations come to life!</a:t>
            </a:r>
          </a:p>
        </p:txBody>
      </p:sp>
      <p:pic>
        <p:nvPicPr>
          <p:cNvPr id="8196" name="Picture 4" descr="D:\talks\talkDuke06Chinese\jflapLog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752600" cy="13938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99691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62000"/>
          </a:xfrm>
        </p:spPr>
        <p:txBody>
          <a:bodyPr/>
          <a:lstStyle/>
          <a:p>
            <a:r>
              <a:rPr lang="en-US"/>
              <a:t>JFLAP – Regular Languages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5181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Create</a:t>
            </a:r>
          </a:p>
          <a:p>
            <a:pPr lvl="1">
              <a:lnSpc>
                <a:spcPct val="90000"/>
              </a:lnSpc>
            </a:pPr>
            <a:r>
              <a:rPr lang="en-US"/>
              <a:t>DFA and NFA</a:t>
            </a:r>
          </a:p>
          <a:p>
            <a:pPr lvl="1">
              <a:lnSpc>
                <a:spcPct val="90000"/>
              </a:lnSpc>
            </a:pPr>
            <a:r>
              <a:rPr lang="en-US"/>
              <a:t>Moore and Mealy</a:t>
            </a:r>
          </a:p>
          <a:p>
            <a:pPr lvl="1">
              <a:lnSpc>
                <a:spcPct val="90000"/>
              </a:lnSpc>
            </a:pPr>
            <a:r>
              <a:rPr lang="en-US"/>
              <a:t>regular grammar</a:t>
            </a:r>
          </a:p>
          <a:p>
            <a:pPr lvl="1">
              <a:lnSpc>
                <a:spcPct val="90000"/>
              </a:lnSpc>
            </a:pPr>
            <a:r>
              <a:rPr lang="en-US"/>
              <a:t>regular expression</a:t>
            </a:r>
          </a:p>
          <a:p>
            <a:pPr lvl="1"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Conversions</a:t>
            </a:r>
          </a:p>
          <a:p>
            <a:pPr lvl="1">
              <a:lnSpc>
                <a:spcPct val="90000"/>
              </a:lnSpc>
            </a:pPr>
            <a:r>
              <a:rPr lang="en-US"/>
              <a:t>NFA to DFA to minimal DFA</a:t>
            </a:r>
          </a:p>
          <a:p>
            <a:pPr lvl="1">
              <a:lnSpc>
                <a:spcPct val="90000"/>
              </a:lnSpc>
            </a:pPr>
            <a:r>
              <a:rPr lang="en-US"/>
              <a:t>NFA </a:t>
            </a:r>
            <a:r>
              <a:rPr lang="en-US">
                <a:sym typeface="Wingdings" pitchFamily="2" charset="2"/>
              </a:rPr>
              <a:t> regular expression</a:t>
            </a:r>
          </a:p>
          <a:p>
            <a:pPr lvl="1">
              <a:lnSpc>
                <a:spcPct val="90000"/>
              </a:lnSpc>
            </a:pPr>
            <a:r>
              <a:rPr lang="en-US">
                <a:sym typeface="Wingdings" pitchFamily="2" charset="2"/>
              </a:rPr>
              <a:t>NFA  regular grammar</a:t>
            </a:r>
            <a:endParaRPr lang="en-US"/>
          </a:p>
          <a:p>
            <a:pPr lvl="1">
              <a:lnSpc>
                <a:spcPct val="90000"/>
              </a:lnSpc>
            </a:pPr>
            <a:endParaRPr lang="en-US"/>
          </a:p>
        </p:txBody>
      </p:sp>
      <p:pic>
        <p:nvPicPr>
          <p:cNvPr id="10244" name="Picture 4" descr="D:\talkcse04\indexdfa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10200" y="1066800"/>
            <a:ext cx="3303588" cy="2754313"/>
          </a:xfrm>
          <a:prstGeom prst="rect">
            <a:avLst/>
          </a:prstGeom>
          <a:noFill/>
        </p:spPr>
      </p:pic>
      <p:pic>
        <p:nvPicPr>
          <p:cNvPr id="10245" name="Picture 5" descr="D:\talkcse04\indextodfa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0" y="4267200"/>
            <a:ext cx="2720975" cy="19431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53871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/>
              <a:t>JFLAP – Regular languages (more)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4343400" cy="5029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Simulate DFA and NFA</a:t>
            </a:r>
          </a:p>
          <a:p>
            <a:pPr lvl="1">
              <a:lnSpc>
                <a:spcPct val="90000"/>
              </a:lnSpc>
            </a:pPr>
            <a:r>
              <a:rPr lang="en-US"/>
              <a:t>Step with Closure or Step by State</a:t>
            </a:r>
          </a:p>
          <a:p>
            <a:pPr lvl="1">
              <a:lnSpc>
                <a:spcPct val="90000"/>
              </a:lnSpc>
            </a:pPr>
            <a:r>
              <a:rPr lang="en-US"/>
              <a:t>Fast Run</a:t>
            </a:r>
          </a:p>
          <a:p>
            <a:pPr lvl="1">
              <a:lnSpc>
                <a:spcPct val="90000"/>
              </a:lnSpc>
            </a:pPr>
            <a:r>
              <a:rPr lang="en-US"/>
              <a:t>Multiple Run</a:t>
            </a:r>
          </a:p>
          <a:p>
            <a:pPr>
              <a:lnSpc>
                <a:spcPct val="90000"/>
              </a:lnSpc>
            </a:pPr>
            <a:r>
              <a:rPr lang="en-US"/>
              <a:t>Combine two DFA</a:t>
            </a:r>
          </a:p>
          <a:p>
            <a:pPr>
              <a:lnSpc>
                <a:spcPct val="90000"/>
              </a:lnSpc>
            </a:pPr>
            <a:r>
              <a:rPr lang="en-US"/>
              <a:t>Compare Equivalence</a:t>
            </a:r>
          </a:p>
          <a:p>
            <a:pPr>
              <a:lnSpc>
                <a:spcPct val="90000"/>
              </a:lnSpc>
            </a:pPr>
            <a:r>
              <a:rPr lang="en-US"/>
              <a:t>Brute Force Parser</a:t>
            </a:r>
          </a:p>
          <a:p>
            <a:pPr>
              <a:lnSpc>
                <a:spcPct val="90000"/>
              </a:lnSpc>
            </a:pPr>
            <a:r>
              <a:rPr lang="en-US"/>
              <a:t>Pumping Lemma</a:t>
            </a:r>
          </a:p>
        </p:txBody>
      </p:sp>
      <p:pic>
        <p:nvPicPr>
          <p:cNvPr id="11268" name="Picture 4" descr="D:\jflapwkcse06\fasimulat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2362200"/>
            <a:ext cx="3867150" cy="3581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59744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838200"/>
          </a:xfrm>
        </p:spPr>
        <p:txBody>
          <a:bodyPr/>
          <a:lstStyle/>
          <a:p>
            <a:r>
              <a:rPr lang="en-US"/>
              <a:t>JFLAP – Context-free Languages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066800"/>
            <a:ext cx="7315200" cy="5486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Create</a:t>
            </a:r>
          </a:p>
          <a:p>
            <a:pPr lvl="1">
              <a:lnSpc>
                <a:spcPct val="90000"/>
              </a:lnSpc>
            </a:pPr>
            <a:r>
              <a:rPr lang="en-US"/>
              <a:t>Nondeterministic PDA</a:t>
            </a:r>
          </a:p>
          <a:p>
            <a:pPr lvl="1">
              <a:lnSpc>
                <a:spcPct val="90000"/>
              </a:lnSpc>
            </a:pPr>
            <a:r>
              <a:rPr lang="en-US"/>
              <a:t>Context-free grammar</a:t>
            </a:r>
          </a:p>
          <a:p>
            <a:pPr lvl="1">
              <a:lnSpc>
                <a:spcPct val="90000"/>
              </a:lnSpc>
            </a:pPr>
            <a:r>
              <a:rPr lang="en-US"/>
              <a:t>Pumping Lemma</a:t>
            </a:r>
          </a:p>
          <a:p>
            <a:pPr lvl="1"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Transform</a:t>
            </a:r>
          </a:p>
          <a:p>
            <a:pPr lvl="1">
              <a:lnSpc>
                <a:spcPct val="90000"/>
              </a:lnSpc>
            </a:pPr>
            <a:r>
              <a:rPr lang="en-US"/>
              <a:t>PDA </a:t>
            </a:r>
            <a:r>
              <a:rPr lang="en-US">
                <a:sym typeface="Wingdings" pitchFamily="2" charset="2"/>
              </a:rPr>
              <a:t> CFG</a:t>
            </a:r>
          </a:p>
          <a:p>
            <a:pPr lvl="1">
              <a:lnSpc>
                <a:spcPct val="90000"/>
              </a:lnSpc>
            </a:pPr>
            <a:r>
              <a:rPr lang="en-US">
                <a:sym typeface="Wingdings" pitchFamily="2" charset="2"/>
              </a:rPr>
              <a:t>CFG  PDA (LL &amp; SLR parser)</a:t>
            </a:r>
          </a:p>
          <a:p>
            <a:pPr lvl="1">
              <a:lnSpc>
                <a:spcPct val="90000"/>
              </a:lnSpc>
            </a:pPr>
            <a:r>
              <a:rPr lang="en-US">
                <a:sym typeface="Wingdings" pitchFamily="2" charset="2"/>
              </a:rPr>
              <a:t>CFG  CNF</a:t>
            </a:r>
          </a:p>
          <a:p>
            <a:pPr lvl="1">
              <a:lnSpc>
                <a:spcPct val="90000"/>
              </a:lnSpc>
            </a:pPr>
            <a:r>
              <a:rPr lang="en-US">
                <a:sym typeface="Wingdings" pitchFamily="2" charset="2"/>
              </a:rPr>
              <a:t>CFG  Parse table (LL and SLR)</a:t>
            </a:r>
          </a:p>
          <a:p>
            <a:pPr lvl="1">
              <a:lnSpc>
                <a:spcPct val="90000"/>
              </a:lnSpc>
            </a:pPr>
            <a:r>
              <a:rPr lang="en-US">
                <a:sym typeface="Wingdings" pitchFamily="2" charset="2"/>
              </a:rPr>
              <a:t>CFG  Brute Force Parser</a:t>
            </a:r>
            <a:endParaRPr lang="en-US"/>
          </a:p>
        </p:txBody>
      </p:sp>
      <p:pic>
        <p:nvPicPr>
          <p:cNvPr id="12292" name="Picture 4" descr="D:\talkcse04\indexpda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1447800"/>
            <a:ext cx="3463925" cy="1439863"/>
          </a:xfrm>
          <a:prstGeom prst="rect">
            <a:avLst/>
          </a:prstGeom>
          <a:noFill/>
        </p:spPr>
      </p:pic>
      <p:pic>
        <p:nvPicPr>
          <p:cNvPr id="12293" name="Picture 5" descr="D:\talkcse04\indexslr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37225" y="3276600"/>
            <a:ext cx="3406775" cy="29146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40785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447800"/>
          </a:xfrm>
        </p:spPr>
        <p:txBody>
          <a:bodyPr/>
          <a:lstStyle/>
          <a:p>
            <a:r>
              <a:rPr lang="en-US"/>
              <a:t>JFLAP – Recursively Enumerable Languages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981200"/>
            <a:ext cx="5257800" cy="4572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Create</a:t>
            </a:r>
          </a:p>
          <a:p>
            <a:pPr lvl="1">
              <a:lnSpc>
                <a:spcPct val="90000"/>
              </a:lnSpc>
            </a:pPr>
            <a:r>
              <a:rPr lang="en-US"/>
              <a:t>Turing Machine (1-Tape)</a:t>
            </a:r>
          </a:p>
          <a:p>
            <a:pPr lvl="1">
              <a:lnSpc>
                <a:spcPct val="90000"/>
              </a:lnSpc>
            </a:pPr>
            <a:r>
              <a:rPr lang="en-US"/>
              <a:t>Turing Machine (multi-tape)</a:t>
            </a:r>
          </a:p>
          <a:p>
            <a:pPr lvl="1">
              <a:lnSpc>
                <a:spcPct val="90000"/>
              </a:lnSpc>
            </a:pPr>
            <a:r>
              <a:rPr lang="en-US"/>
              <a:t>Building Blocks</a:t>
            </a:r>
          </a:p>
          <a:p>
            <a:pPr lvl="1">
              <a:lnSpc>
                <a:spcPct val="90000"/>
              </a:lnSpc>
            </a:pPr>
            <a:r>
              <a:rPr lang="en-US"/>
              <a:t>Unrestricted grammar</a:t>
            </a:r>
          </a:p>
          <a:p>
            <a:pPr lvl="1"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Parsing</a:t>
            </a:r>
          </a:p>
          <a:p>
            <a:pPr lvl="1">
              <a:lnSpc>
                <a:spcPct val="90000"/>
              </a:lnSpc>
            </a:pPr>
            <a:r>
              <a:rPr lang="en-US"/>
              <a:t>Unrestricted grammar with brute force parser</a:t>
            </a:r>
          </a:p>
        </p:txBody>
      </p:sp>
      <p:pic>
        <p:nvPicPr>
          <p:cNvPr id="13316" name="Picture 4" descr="D:\talkcse04\indextm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00800" y="2209800"/>
            <a:ext cx="1679575" cy="1211263"/>
          </a:xfrm>
          <a:prstGeom prst="rect">
            <a:avLst/>
          </a:prstGeom>
          <a:noFill/>
        </p:spPr>
      </p:pic>
      <p:pic>
        <p:nvPicPr>
          <p:cNvPr id="13317" name="Picture 5" descr="D:\jflapworkshop\unrestrGrmPars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24500" y="3962400"/>
            <a:ext cx="3619500" cy="23336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2901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893763" y="80963"/>
            <a:ext cx="7358062" cy="1052512"/>
          </a:xfrm>
          <a:noFill/>
        </p:spPr>
        <p:txBody>
          <a:bodyPr/>
          <a:lstStyle/>
          <a:p>
            <a:pPr>
              <a:tabLst>
                <a:tab pos="1536700" algn="l"/>
              </a:tabLst>
            </a:pPr>
            <a:r>
              <a:rPr lang="en-US"/>
              <a:t>JFLAP -   L-Systems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22825" y="1231900"/>
            <a:ext cx="3624263" cy="1901825"/>
          </a:xfrm>
          <a:noFill/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tabLst>
                <a:tab pos="1054100" algn="l"/>
              </a:tabLst>
            </a:pPr>
            <a:r>
              <a:rPr lang="en-US" sz="2800"/>
              <a:t>This L-System renders as a tree that grows larger with each successive derivation step.</a:t>
            </a:r>
          </a:p>
        </p:txBody>
      </p:sp>
      <p:pic>
        <p:nvPicPr>
          <p:cNvPr id="4506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7313" y="1263650"/>
            <a:ext cx="3036887" cy="3740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63499" dir="5400000" algn="ctr" rotWithShape="0">
              <a:schemeClr val="bg2">
                <a:alpha val="75000"/>
              </a:schemeClr>
            </a:outerShdw>
          </a:effectLst>
        </p:spPr>
      </p:pic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295525" y="3668713"/>
            <a:ext cx="5957888" cy="3094037"/>
            <a:chOff x="1799" y="2876"/>
            <a:chExt cx="5337" cy="2771"/>
          </a:xfrm>
        </p:grpSpPr>
        <p:pic>
          <p:nvPicPr>
            <p:cNvPr id="45062" name="Picture 6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023" y="2876"/>
              <a:ext cx="2113" cy="274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</p:pic>
        <p:pic>
          <p:nvPicPr>
            <p:cNvPr id="45063" name="Picture 7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799" y="5069"/>
              <a:ext cx="125" cy="56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</p:pic>
        <p:pic>
          <p:nvPicPr>
            <p:cNvPr id="45064" name="Picture 8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389" y="4853"/>
              <a:ext cx="257" cy="77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</p:pic>
        <p:pic>
          <p:nvPicPr>
            <p:cNvPr id="45065" name="Picture 9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036" y="4253"/>
              <a:ext cx="712" cy="139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</p:pic>
        <p:pic>
          <p:nvPicPr>
            <p:cNvPr id="45066" name="Picture 10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3889" y="3573"/>
              <a:ext cx="1341" cy="206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7473637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6019800" cy="838200"/>
          </a:xfrm>
        </p:spPr>
        <p:txBody>
          <a:bodyPr/>
          <a:lstStyle/>
          <a:p>
            <a:r>
              <a:rPr lang="en-US"/>
              <a:t>Students love L-Systems</a:t>
            </a:r>
          </a:p>
        </p:txBody>
      </p:sp>
      <p:pic>
        <p:nvPicPr>
          <p:cNvPr id="54275" name="Picture 3" descr="D:\talks\talkiticse07\Paczkowski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505200"/>
            <a:ext cx="4572000" cy="3073400"/>
          </a:xfrm>
          <a:prstGeom prst="rect">
            <a:avLst/>
          </a:prstGeom>
          <a:noFill/>
        </p:spPr>
      </p:pic>
      <p:pic>
        <p:nvPicPr>
          <p:cNvPr id="54276" name="Picture 4" descr="D:\talks\talkiticse07\Cohen.GIF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24600" y="228600"/>
            <a:ext cx="2671763" cy="3124200"/>
          </a:xfrm>
          <a:prstGeom prst="rect">
            <a:avLst/>
          </a:prstGeom>
          <a:noFill/>
        </p:spPr>
      </p:pic>
      <p:pic>
        <p:nvPicPr>
          <p:cNvPr id="54277" name="Picture 5" descr="D:\talks\talkiticse07\Barbas.GIF"/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76800" y="3505200"/>
            <a:ext cx="4038600" cy="3232150"/>
          </a:xfrm>
          <a:prstGeom prst="rect">
            <a:avLst/>
          </a:prstGeom>
          <a:noFill/>
        </p:spPr>
      </p:pic>
      <p:pic>
        <p:nvPicPr>
          <p:cNvPr id="54278" name="Picture 6" descr="D:\jflapwkshopsigcse06\handouts\dga2.g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886200" y="762000"/>
            <a:ext cx="2268538" cy="1557338"/>
          </a:xfrm>
          <a:prstGeom prst="rect">
            <a:avLst/>
          </a:prstGeom>
          <a:noFill/>
        </p:spPr>
      </p:pic>
      <p:pic>
        <p:nvPicPr>
          <p:cNvPr id="54279" name="Picture 7" descr="D:\jflapwkshopsigcse06\handouts\jvf2.gi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52400" y="914400"/>
            <a:ext cx="2819400" cy="2516188"/>
          </a:xfrm>
          <a:prstGeom prst="rect">
            <a:avLst/>
          </a:prstGeom>
          <a:noFill/>
        </p:spPr>
      </p:pic>
      <p:pic>
        <p:nvPicPr>
          <p:cNvPr id="54280" name="Picture 8" descr="D:\jflapwkshopsigcse06\handouts\jhc7.gif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276600" y="2438400"/>
            <a:ext cx="2209800" cy="102711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75279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JFLAP’s Use Around the World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1"/>
            <a:ext cx="8229600" cy="23621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JFLAP web page has over 3</a:t>
            </a:r>
            <a:r>
              <a:rPr lang="en-US" dirty="0" smtClean="0"/>
              <a:t>00,000 </a:t>
            </a:r>
            <a:r>
              <a:rPr lang="en-US" dirty="0"/>
              <a:t>hits since 1996</a:t>
            </a:r>
          </a:p>
          <a:p>
            <a:r>
              <a:rPr lang="en-US" dirty="0"/>
              <a:t>Google Search</a:t>
            </a:r>
          </a:p>
          <a:p>
            <a:pPr lvl="1"/>
            <a:r>
              <a:rPr lang="en-US" dirty="0"/>
              <a:t>JFLAP appears on </a:t>
            </a:r>
            <a:r>
              <a:rPr lang="en-US" dirty="0" smtClean="0"/>
              <a:t>over 9830 web </a:t>
            </a:r>
            <a:r>
              <a:rPr lang="en-US" dirty="0"/>
              <a:t>pages</a:t>
            </a:r>
          </a:p>
          <a:p>
            <a:pPr lvl="1"/>
            <a:r>
              <a:rPr lang="en-US" dirty="0"/>
              <a:t>Note: search only public web pages</a:t>
            </a:r>
          </a:p>
          <a:p>
            <a:r>
              <a:rPr lang="en-US" dirty="0"/>
              <a:t>JFLAP  been downloaded in over 160 countries</a:t>
            </a:r>
          </a:p>
        </p:txBody>
      </p:sp>
      <p:pic>
        <p:nvPicPr>
          <p:cNvPr id="4" name="Picture 3" descr="jflapUsag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19200" y="3753853"/>
            <a:ext cx="6553200" cy="310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378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3733800" cy="266700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Two-year JFLAP Study</a:t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Fourteen</a:t>
            </a:r>
            <a:br>
              <a:rPr lang="en-US" sz="3200" dirty="0" smtClean="0"/>
            </a:br>
            <a:r>
              <a:rPr lang="en-US" sz="3200" dirty="0" smtClean="0"/>
              <a:t>Faculty Adopter </a:t>
            </a:r>
            <a:r>
              <a:rPr lang="en-US" sz="3200" dirty="0"/>
              <a:t>Participants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81400" y="304800"/>
            <a:ext cx="5410200" cy="63246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Duke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UNC-Chapel Hill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Emory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Winston-Salem State University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United States Naval Academy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Rensselaer Polytechnic Institute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UC Davis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Virginia State University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Norfolk State University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University of Houston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Fayetteville State University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University of Richmond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San Jose State University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Rochester Institute of Technology</a:t>
            </a:r>
          </a:p>
          <a:p>
            <a:pPr>
              <a:lnSpc>
                <a:spcPct val="90000"/>
              </a:lnSpc>
            </a:pP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533400" y="4419600"/>
            <a:ext cx="2743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en-US" sz="2400" dirty="0" smtClean="0">
                <a:solidFill>
                  <a:srgbClr val="FF0000"/>
                </a:solidFill>
              </a:rPr>
              <a:t>small, large</a:t>
            </a:r>
          </a:p>
          <a:p>
            <a:pPr>
              <a:buFontTx/>
              <a:buChar char="-"/>
            </a:pPr>
            <a:r>
              <a:rPr lang="en-US" sz="2400" dirty="0" smtClean="0">
                <a:solidFill>
                  <a:srgbClr val="FF0000"/>
                </a:solidFill>
              </a:rPr>
              <a:t> public, private</a:t>
            </a:r>
          </a:p>
          <a:p>
            <a:pPr>
              <a:buFontTx/>
              <a:buChar char="-"/>
            </a:pPr>
            <a:r>
              <a:rPr lang="en-US" sz="2400" dirty="0" smtClean="0">
                <a:solidFill>
                  <a:srgbClr val="FF0000"/>
                </a:solidFill>
              </a:rPr>
              <a:t> includes minority institutions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431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 smtClean="0"/>
              <a:t>Key Findings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864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All the faculty used JFLAP in their courses</a:t>
            </a:r>
          </a:p>
          <a:p>
            <a:pPr lvl="1"/>
            <a:r>
              <a:rPr lang="en-US" dirty="0" smtClean="0"/>
              <a:t>They used it mostly for homework, some used it for class demonstrations.</a:t>
            </a:r>
          </a:p>
          <a:p>
            <a:r>
              <a:rPr lang="en-US" dirty="0" smtClean="0"/>
              <a:t>Students had a high opinion of JFLAP</a:t>
            </a:r>
          </a:p>
          <a:p>
            <a:r>
              <a:rPr lang="en-US" dirty="0" smtClean="0"/>
              <a:t>Four-fifths </a:t>
            </a:r>
            <a:r>
              <a:rPr lang="en-US" dirty="0"/>
              <a:t>of the students thought JFLAP was easy to </a:t>
            </a:r>
            <a:r>
              <a:rPr lang="en-US" dirty="0" smtClean="0"/>
              <a:t>use to </a:t>
            </a:r>
            <a:r>
              <a:rPr lang="en-US" dirty="0"/>
              <a:t>draw automata, simulate and interpret the results. 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majority </a:t>
            </a:r>
            <a:r>
              <a:rPr lang="en-US" dirty="0" smtClean="0"/>
              <a:t>of students </a:t>
            </a:r>
            <a:r>
              <a:rPr lang="en-US" dirty="0"/>
              <a:t>felt that having access to JFLAP made learning course </a:t>
            </a:r>
            <a:r>
              <a:rPr lang="en-US" dirty="0" smtClean="0"/>
              <a:t>concepts easier</a:t>
            </a:r>
            <a:r>
              <a:rPr lang="en-US" dirty="0"/>
              <a:t>, made them feel more engaged in the course and made the course </a:t>
            </a:r>
            <a:r>
              <a:rPr lang="en-US" dirty="0" smtClean="0"/>
              <a:t>more enjoyable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Over </a:t>
            </a:r>
            <a:r>
              <a:rPr lang="en-US" dirty="0"/>
              <a:t>half of the students used JFLAP to study for exams, </a:t>
            </a:r>
            <a:r>
              <a:rPr lang="en-US" dirty="0" smtClean="0"/>
              <a:t>and thought </a:t>
            </a:r>
            <a:r>
              <a:rPr lang="en-US" dirty="0"/>
              <a:t>that the time and effort spent using JFLAP helped them get a </a:t>
            </a:r>
            <a:r>
              <a:rPr lang="en-US" dirty="0" smtClean="0"/>
              <a:t>better grade </a:t>
            </a:r>
            <a:r>
              <a:rPr lang="en-US" dirty="0"/>
              <a:t>in the course.  </a:t>
            </a:r>
            <a:endParaRPr lang="en-US" dirty="0" smtClean="0"/>
          </a:p>
          <a:p>
            <a:r>
              <a:rPr lang="en-US" dirty="0" smtClean="0"/>
              <a:t>There </a:t>
            </a:r>
            <a:r>
              <a:rPr lang="en-US" dirty="0"/>
              <a:t>was a control group in the second year, but </a:t>
            </a:r>
            <a:r>
              <a:rPr lang="en-US" dirty="0" smtClean="0"/>
              <a:t>the difference </a:t>
            </a:r>
            <a:r>
              <a:rPr lang="en-US" dirty="0"/>
              <a:t>in knowledge between the control group and the JFLAP group </a:t>
            </a:r>
            <a:r>
              <a:rPr lang="en-US" dirty="0" smtClean="0"/>
              <a:t>was not </a:t>
            </a:r>
            <a:r>
              <a:rPr lang="en-US" dirty="0"/>
              <a:t>statistically significant.</a:t>
            </a:r>
          </a:p>
          <a:p>
            <a:endParaRPr lang="en-US" dirty="0"/>
          </a:p>
          <a:p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14106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4953000" cy="838200"/>
          </a:xfrm>
        </p:spPr>
        <p:txBody>
          <a:bodyPr>
            <a:normAutofit/>
          </a:bodyPr>
          <a:lstStyle/>
          <a:p>
            <a:r>
              <a:rPr lang="en-US" dirty="0" smtClean="0"/>
              <a:t>JFLAP Materials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0"/>
            <a:ext cx="3429000" cy="5668963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dirty="0" smtClean="0">
                <a:hlinkClick r:id="rId2"/>
              </a:rPr>
              <a:t>www.jflap.org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JFLAP online tutorial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  </a:t>
            </a:r>
          </a:p>
          <a:p>
            <a:pPr>
              <a:buNone/>
            </a:pPr>
            <a:endParaRPr lang="en-US" dirty="0" smtClean="0"/>
          </a:p>
        </p:txBody>
      </p:sp>
      <p:pic>
        <p:nvPicPr>
          <p:cNvPr id="5" name="Picture 4" descr="jflapWebSit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257800" y="594329"/>
            <a:ext cx="3699933" cy="2682270"/>
          </a:xfrm>
          <a:prstGeom prst="rect">
            <a:avLst/>
          </a:prstGeom>
        </p:spPr>
      </p:pic>
      <p:pic>
        <p:nvPicPr>
          <p:cNvPr id="6" name="Picture 4" descr="D:\talksigcse06\paperjflap\jflapbooksmall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38400" y="4572000"/>
            <a:ext cx="1574800" cy="2006600"/>
          </a:xfrm>
          <a:prstGeom prst="rect">
            <a:avLst/>
          </a:prstGeom>
          <a:noFill/>
        </p:spPr>
      </p:pic>
      <p:pic>
        <p:nvPicPr>
          <p:cNvPr id="7" name="Picture 6" descr="jflapTutorial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181600" y="3746057"/>
            <a:ext cx="3617951" cy="3111943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228600" y="990600"/>
            <a:ext cx="30480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JFLAP works well with Linz book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New CD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supplement with JFLAP exercises to go with this book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JFLAP book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276600" y="1066800"/>
            <a:ext cx="1491916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51710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JFLAP Examples in Lecture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90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a DFA that recognizes strings with an even number of a’s and an even number of b’s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861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r>
              <a:rPr lang="en-US" dirty="0" smtClean="0"/>
              <a:t>Create a DFA that recognizes strings with an even number of a’s and an even number of b’s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2438400"/>
            <a:ext cx="6781800" cy="4346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572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 – DFA for even binary numbers with an even number of ones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311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 – DFA for even binary numbers with an even number of ones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06" y="1600200"/>
            <a:ext cx="8336328" cy="4572000"/>
          </a:xfrm>
        </p:spPr>
      </p:pic>
    </p:spTree>
    <p:extLst>
      <p:ext uri="{BB962C8B-B14F-4D97-AF65-F5344CB8AC3E}">
        <p14:creationId xmlns:p14="http://schemas.microsoft.com/office/powerpoint/2010/main" val="2462313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Example: Build an NFA for valid integers</a:t>
            </a:r>
            <a:endParaRPr lang="en-US" dirty="0"/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534400" cy="46482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Example:</a:t>
            </a:r>
          </a:p>
          <a:p>
            <a:pPr lvl="1"/>
            <a:r>
              <a:rPr lang="en-US" dirty="0" smtClean="0"/>
              <a:t>Valid </a:t>
            </a:r>
            <a:r>
              <a:rPr lang="en-US" dirty="0"/>
              <a:t>integers {-3, 8, 0, 456, 13, </a:t>
            </a:r>
            <a:r>
              <a:rPr lang="en-US" dirty="0" smtClean="0"/>
              <a:t>500, …}</a:t>
            </a:r>
          </a:p>
          <a:p>
            <a:pPr lvl="1"/>
            <a:r>
              <a:rPr lang="en-US" dirty="0" smtClean="0"/>
              <a:t>Not valid: {006, 3-6, 4.5, …}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625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NFA for all valid integers</a:t>
            </a:r>
            <a:endParaRPr lang="en-US" dirty="0"/>
          </a:p>
        </p:txBody>
      </p:sp>
      <p:pic>
        <p:nvPicPr>
          <p:cNvPr id="8" name="Content Placeholder 7" descr="integers2DFAbig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28662" y="1743869"/>
            <a:ext cx="7686675" cy="4238625"/>
          </a:xfrm>
        </p:spPr>
      </p:pic>
    </p:spTree>
    <p:extLst>
      <p:ext uri="{BB962C8B-B14F-4D97-AF65-F5344CB8AC3E}">
        <p14:creationId xmlns:p14="http://schemas.microsoft.com/office/powerpoint/2010/main" val="890739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DFA annotated and w/shortcut</a:t>
            </a:r>
            <a:endParaRPr lang="en-US" dirty="0"/>
          </a:p>
        </p:txBody>
      </p:sp>
      <p:pic>
        <p:nvPicPr>
          <p:cNvPr id="4" name="Content Placeholder 3" descr="integersDFAbig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38200" y="2177256"/>
            <a:ext cx="7467600" cy="3371850"/>
          </a:xfrm>
        </p:spPr>
      </p:pic>
    </p:spTree>
    <p:extLst>
      <p:ext uri="{BB962C8B-B14F-4D97-AF65-F5344CB8AC3E}">
        <p14:creationId xmlns:p14="http://schemas.microsoft.com/office/powerpoint/2010/main" val="2767687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Example: NFA </a:t>
            </a:r>
            <a:br>
              <a:rPr lang="en-US" dirty="0" smtClean="0"/>
            </a:br>
            <a:r>
              <a:rPr lang="en-US" dirty="0" smtClean="0"/>
              <a:t>run and convert to DFA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905000"/>
            <a:ext cx="7772400" cy="4582862"/>
          </a:xfrm>
        </p:spPr>
      </p:pic>
    </p:spTree>
    <p:extLst>
      <p:ext uri="{BB962C8B-B14F-4D97-AF65-F5344CB8AC3E}">
        <p14:creationId xmlns:p14="http://schemas.microsoft.com/office/powerpoint/2010/main" val="4203165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Corresponding DFA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19200"/>
            <a:ext cx="8653183" cy="5029200"/>
          </a:xfrm>
        </p:spPr>
      </p:pic>
    </p:spTree>
    <p:extLst>
      <p:ext uri="{BB962C8B-B14F-4D97-AF65-F5344CB8AC3E}">
        <p14:creationId xmlns:p14="http://schemas.microsoft.com/office/powerpoint/2010/main" val="338245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3124200" cy="4830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Minimize DFA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First add trap state q7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then build tree of distinguished states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76200"/>
            <a:ext cx="5486400" cy="6701741"/>
          </a:xfrm>
        </p:spPr>
      </p:pic>
    </p:spTree>
    <p:extLst>
      <p:ext uri="{BB962C8B-B14F-4D97-AF65-F5344CB8AC3E}">
        <p14:creationId xmlns:p14="http://schemas.microsoft.com/office/powerpoint/2010/main" val="1090401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Minimal State DFA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600200"/>
            <a:ext cx="7189597" cy="4114800"/>
          </a:xfrm>
        </p:spPr>
      </p:pic>
    </p:spTree>
    <p:extLst>
      <p:ext uri="{BB962C8B-B14F-4D97-AF65-F5344CB8AC3E}">
        <p14:creationId xmlns:p14="http://schemas.microsoft.com/office/powerpoint/2010/main" val="1807321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next?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Can convert to a regular expression …</a:t>
            </a:r>
          </a:p>
          <a:p>
            <a:r>
              <a:rPr lang="en-US" dirty="0" smtClean="0"/>
              <a:t>Can convert to an NFA…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393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JFLAP during Lecture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JFLAP to build examples of automata or grammars</a:t>
            </a:r>
          </a:p>
          <a:p>
            <a:r>
              <a:rPr lang="en-US"/>
              <a:t>Use JFLAP to demo proofs</a:t>
            </a:r>
          </a:p>
          <a:p>
            <a:r>
              <a:rPr lang="en-US"/>
              <a:t>Load a JFLAP example and students work in pairs to determine what it does, or fix it if it is not correct.</a:t>
            </a:r>
          </a:p>
        </p:txBody>
      </p:sp>
    </p:spTree>
    <p:extLst>
      <p:ext uri="{BB962C8B-B14F-4D97-AF65-F5344CB8AC3E}">
        <p14:creationId xmlns:p14="http://schemas.microsoft.com/office/powerpoint/2010/main" val="240730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05800" cy="1143000"/>
          </a:xfrm>
        </p:spPr>
        <p:txBody>
          <a:bodyPr/>
          <a:lstStyle/>
          <a:p>
            <a:r>
              <a:rPr lang="en-US" dirty="0"/>
              <a:t>Example </a:t>
            </a:r>
            <a:r>
              <a:rPr lang="en-US" dirty="0" smtClean="0"/>
              <a:t>: </a:t>
            </a:r>
            <a:r>
              <a:rPr lang="en-US" dirty="0"/>
              <a:t>JFLAP during Lecture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114800"/>
          </a:xfrm>
        </p:spPr>
        <p:txBody>
          <a:bodyPr/>
          <a:lstStyle/>
          <a:p>
            <a:r>
              <a:rPr lang="en-US"/>
              <a:t>Ask students to write on paper an NPDA for palindromes of even length</a:t>
            </a:r>
          </a:p>
          <a:p>
            <a:r>
              <a:rPr lang="en-US"/>
              <a:t>Build one of their solutions using JFLAP</a:t>
            </a:r>
          </a:p>
          <a:p>
            <a:pPr lvl="1"/>
            <a:r>
              <a:rPr lang="en-US"/>
              <a:t>Shows students how to use JFLAP</a:t>
            </a:r>
          </a:p>
        </p:txBody>
      </p:sp>
      <p:pic>
        <p:nvPicPr>
          <p:cNvPr id="17412" name="Picture 4" descr="D:\jflapwkshopsigcse06\handouts\exnpd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4191000"/>
            <a:ext cx="5486400" cy="15446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92925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05800" cy="1143000"/>
          </a:xfrm>
        </p:spPr>
        <p:txBody>
          <a:bodyPr>
            <a:normAutofit fontScale="90000"/>
          </a:bodyPr>
          <a:lstStyle/>
          <a:p>
            <a:r>
              <a:rPr lang="en-US"/>
              <a:t>Example 1: JFLAP during Lecture (cont)</a:t>
            </a:r>
          </a:p>
        </p:txBody>
      </p:sp>
      <p:sp>
        <p:nvSpPr>
          <p:cNvPr id="46083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7772400" cy="4724400"/>
          </a:xfrm>
        </p:spPr>
        <p:txBody>
          <a:bodyPr/>
          <a:lstStyle/>
          <a:p>
            <a:pPr>
              <a:buFontTx/>
              <a:buNone/>
            </a:pPr>
            <a:endParaRPr lang="en-US"/>
          </a:p>
          <a:p>
            <a:r>
              <a:rPr lang="en-US"/>
              <a:t>Run input strings on the NPDA</a:t>
            </a:r>
          </a:p>
          <a:p>
            <a:pPr lvl="1"/>
            <a:r>
              <a:rPr lang="en-US"/>
              <a:t>Shows the nondeterminism </a:t>
            </a:r>
          </a:p>
        </p:txBody>
      </p:sp>
      <p:pic>
        <p:nvPicPr>
          <p:cNvPr id="46085" name="Picture 205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2695575"/>
            <a:ext cx="5715000" cy="416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362587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610600" cy="1143000"/>
          </a:xfrm>
        </p:spPr>
        <p:txBody>
          <a:bodyPr/>
          <a:lstStyle/>
          <a:p>
            <a:r>
              <a:rPr lang="en-US" dirty="0"/>
              <a:t>Example </a:t>
            </a:r>
            <a:r>
              <a:rPr lang="en-US" dirty="0" smtClean="0"/>
              <a:t>: </a:t>
            </a:r>
            <a:r>
              <a:rPr lang="en-US" dirty="0"/>
              <a:t>JFLAP during Lecture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066800"/>
            <a:ext cx="5486400" cy="5562600"/>
          </a:xfrm>
        </p:spPr>
        <p:txBody>
          <a:bodyPr/>
          <a:lstStyle/>
          <a:p>
            <a:r>
              <a:rPr lang="en-US"/>
              <a:t>Brute Force Parser</a:t>
            </a:r>
          </a:p>
          <a:p>
            <a:pPr lvl="1"/>
            <a:r>
              <a:rPr lang="en-US"/>
              <a:t>Give a grammar with a lambda-production and unit production</a:t>
            </a:r>
          </a:p>
          <a:p>
            <a:pPr lvl="1"/>
            <a:r>
              <a:rPr lang="en-US"/>
              <a:t>Run it in JFLAP, see how long it takes (LONG)</a:t>
            </a:r>
          </a:p>
          <a:p>
            <a:pPr lvl="2"/>
            <a:r>
              <a:rPr lang="en-US"/>
              <a:t>Is aabbab in L?</a:t>
            </a:r>
          </a:p>
          <a:p>
            <a:pPr lvl="1"/>
            <a:r>
              <a:rPr lang="en-US"/>
              <a:t>Transform the grammar to remove the lambda and unit-productions</a:t>
            </a:r>
          </a:p>
          <a:p>
            <a:pPr lvl="1"/>
            <a:r>
              <a:rPr lang="en-US"/>
              <a:t>Run new grammar in JFLAP, runs much faster!</a:t>
            </a:r>
          </a:p>
        </p:txBody>
      </p:sp>
      <p:pic>
        <p:nvPicPr>
          <p:cNvPr id="18436" name="Picture 4" descr="D:\talksigcse06\panelvisualization\grammar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0" y="1295400"/>
            <a:ext cx="3048000" cy="1666875"/>
          </a:xfrm>
          <a:prstGeom prst="rect">
            <a:avLst/>
          </a:prstGeom>
          <a:noFill/>
        </p:spPr>
      </p:pic>
      <p:pic>
        <p:nvPicPr>
          <p:cNvPr id="18437" name="Picture 5" descr="D:\talksigcse06\panelvisualization\grammar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7400" y="3733800"/>
            <a:ext cx="3048000" cy="25622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36734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/>
              <a:t>Example 2 (cont)</a:t>
            </a:r>
            <a:br>
              <a:rPr lang="en-US"/>
            </a:br>
            <a:r>
              <a:rPr lang="en-US"/>
              <a:t>Parse Tree Results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772400" cy="4114800"/>
          </a:xfrm>
        </p:spPr>
        <p:txBody>
          <a:bodyPr/>
          <a:lstStyle/>
          <a:p>
            <a:r>
              <a:rPr lang="en-US"/>
              <a:t>First Grammar – 1863 nodes generated</a:t>
            </a:r>
          </a:p>
          <a:p>
            <a:r>
              <a:rPr lang="en-US"/>
              <a:t>Second Grammar – 40 nodes generated</a:t>
            </a:r>
          </a:p>
          <a:p>
            <a:r>
              <a:rPr lang="en-US"/>
              <a:t>Parse tree is the same.</a:t>
            </a:r>
          </a:p>
        </p:txBody>
      </p:sp>
      <p:pic>
        <p:nvPicPr>
          <p:cNvPr id="19460" name="Picture 4" descr="D:\talksigcse06\panelvisualization\parsetre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2971800"/>
            <a:ext cx="5867400" cy="37750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36566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With JFLAP, Exploring Concepts too tedious for paper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Load a Universal Turing Machine and run it</a:t>
            </a:r>
          </a:p>
          <a:p>
            <a:r>
              <a:rPr lang="en-US"/>
              <a:t>See the exponential growth in an NFA or NPDA</a:t>
            </a:r>
          </a:p>
          <a:p>
            <a:r>
              <a:rPr lang="en-US"/>
              <a:t>Convert an NPDA to a CFG </a:t>
            </a:r>
          </a:p>
          <a:p>
            <a:pPr lvl="1"/>
            <a:r>
              <a:rPr lang="en-US"/>
              <a:t>Large grammar with useless rules</a:t>
            </a:r>
          </a:p>
          <a:p>
            <a:pPr lvl="1"/>
            <a:r>
              <a:rPr lang="en-US"/>
              <a:t>Run both on the same input and compare</a:t>
            </a:r>
          </a:p>
          <a:p>
            <a:pPr lvl="1"/>
            <a:r>
              <a:rPr lang="en-US"/>
              <a:t>Transform grammar (remove useless rules)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410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NPDA to CFG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676400"/>
            <a:ext cx="8363858" cy="4191000"/>
          </a:xfrm>
        </p:spPr>
      </p:pic>
    </p:spTree>
    <p:extLst>
      <p:ext uri="{BB962C8B-B14F-4D97-AF65-F5344CB8AC3E}">
        <p14:creationId xmlns:p14="http://schemas.microsoft.com/office/powerpoint/2010/main" val="1996902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JFLAP’s use Outside of Class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Homework problems </a:t>
            </a:r>
          </a:p>
          <a:p>
            <a:pPr lvl="1"/>
            <a:r>
              <a:rPr lang="en-US"/>
              <a:t>Turn in JFLAP files</a:t>
            </a:r>
          </a:p>
          <a:p>
            <a:pPr lvl="1"/>
            <a:r>
              <a:rPr lang="en-US"/>
              <a:t>OR turn in on paper, check answers in JFLAP</a:t>
            </a:r>
          </a:p>
          <a:p>
            <a:r>
              <a:rPr lang="en-US"/>
              <a:t>Recreate examples from class</a:t>
            </a:r>
          </a:p>
          <a:p>
            <a:r>
              <a:rPr lang="en-US"/>
              <a:t>Work additional problems</a:t>
            </a:r>
          </a:p>
          <a:p>
            <a:pPr lvl="1"/>
            <a:r>
              <a:rPr lang="en-US"/>
              <a:t>Receive immediate feedback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897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686800" cy="1143000"/>
          </a:xfrm>
        </p:spPr>
        <p:txBody>
          <a:bodyPr/>
          <a:lstStyle/>
          <a:p>
            <a:r>
              <a:rPr lang="en-US"/>
              <a:t>Ordering of Problems in Homework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876800"/>
          </a:xfrm>
        </p:spPr>
        <p:txBody>
          <a:bodyPr/>
          <a:lstStyle/>
          <a:p>
            <a:pPr marL="609600" indent="-609600"/>
            <a:r>
              <a:rPr lang="en-US"/>
              <a:t>Order questions so they are incremental in the usage of JFLAP</a:t>
            </a:r>
          </a:p>
          <a:p>
            <a:pPr marL="990600" lvl="1" indent="-533400">
              <a:buFontTx/>
              <a:buAutoNum type="arabicPeriod"/>
            </a:pPr>
            <a:r>
              <a:rPr lang="en-US"/>
              <a:t>Load a DFA. What is the language?</a:t>
            </a:r>
          </a:p>
          <a:p>
            <a:pPr marL="1371600" lvl="2" indent="-457200">
              <a:buFontTx/>
              <a:buNone/>
            </a:pPr>
            <a:r>
              <a:rPr lang="en-US" i="1"/>
              <a:t>Students only enter input strings</a:t>
            </a:r>
            <a:r>
              <a:rPr lang="en-US"/>
              <a:t>.</a:t>
            </a:r>
          </a:p>
          <a:p>
            <a:pPr marL="990600" lvl="1" indent="-533400">
              <a:buFontTx/>
              <a:buAutoNum type="arabicPeriod"/>
            </a:pPr>
            <a:r>
              <a:rPr lang="en-US"/>
              <a:t>Load a DFA that is not correct. What is wrong? Fix it.</a:t>
            </a:r>
          </a:p>
          <a:p>
            <a:pPr marL="1371600" lvl="2" indent="-457200">
              <a:buFontTx/>
              <a:buNone/>
            </a:pPr>
            <a:r>
              <a:rPr lang="en-US" i="1"/>
              <a:t>Students only modifying a small part</a:t>
            </a:r>
            <a:r>
              <a:rPr lang="en-US"/>
              <a:t>.</a:t>
            </a:r>
          </a:p>
          <a:p>
            <a:pPr marL="990600" lvl="1" indent="-533400">
              <a:buFontTx/>
              <a:buAutoNum type="arabicPeriod"/>
            </a:pPr>
            <a:r>
              <a:rPr lang="en-US"/>
              <a:t>Build a DFA for a specific language.</a:t>
            </a:r>
          </a:p>
          <a:p>
            <a:pPr marL="1371600" lvl="2" indent="-457200">
              <a:buFontTx/>
              <a:buNone/>
            </a:pPr>
            <a:r>
              <a:rPr lang="en-US" i="1"/>
              <a:t>Last, students build from scratch. </a:t>
            </a:r>
          </a:p>
        </p:txBody>
      </p:sp>
    </p:spTree>
    <p:extLst>
      <p:ext uri="{BB962C8B-B14F-4D97-AF65-F5344CB8AC3E}">
        <p14:creationId xmlns:p14="http://schemas.microsoft.com/office/powerpoint/2010/main" val="1517397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 this a TM for </a:t>
            </a:r>
            <a:r>
              <a:rPr lang="en-US" dirty="0" err="1" smtClean="0"/>
              <a:t>anbncn</a:t>
            </a:r>
            <a:r>
              <a:rPr lang="en-US" dirty="0" smtClean="0"/>
              <a:t>?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792" y="1600200"/>
            <a:ext cx="8024577" cy="4495800"/>
          </a:xfrm>
        </p:spPr>
      </p:pic>
    </p:spTree>
    <p:extLst>
      <p:ext uri="{BB962C8B-B14F-4D97-AF65-F5344CB8AC3E}">
        <p14:creationId xmlns:p14="http://schemas.microsoft.com/office/powerpoint/2010/main" val="82906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Here is the correct TM for </a:t>
            </a:r>
            <a:r>
              <a:rPr lang="en-US" dirty="0" err="1" smtClean="0"/>
              <a:t>anbncn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608" y="1447800"/>
            <a:ext cx="8142957" cy="4648199"/>
          </a:xfrm>
        </p:spPr>
      </p:pic>
    </p:spTree>
    <p:extLst>
      <p:ext uri="{BB962C8B-B14F-4D97-AF65-F5344CB8AC3E}">
        <p14:creationId xmlns:p14="http://schemas.microsoft.com/office/powerpoint/2010/main" val="3450161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study finite automata?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Application: Compiler</a:t>
            </a:r>
          </a:p>
          <a:p>
            <a:r>
              <a:rPr lang="en-US" dirty="0"/>
              <a:t>Compiler identifies your syntax errors </a:t>
            </a:r>
          </a:p>
          <a:p>
            <a:r>
              <a:rPr lang="en-US" dirty="0"/>
              <a:t>Can write a big DFA to identify all words in a Java program</a:t>
            </a:r>
          </a:p>
          <a:p>
            <a:pPr lvl="1"/>
            <a:r>
              <a:rPr lang="en-US" dirty="0"/>
              <a:t>integers, doubles, </a:t>
            </a:r>
            <a:r>
              <a:rPr lang="en-US" dirty="0" err="1"/>
              <a:t>boolean</a:t>
            </a:r>
            <a:r>
              <a:rPr lang="en-US" dirty="0"/>
              <a:t>                </a:t>
            </a:r>
          </a:p>
          <a:p>
            <a:pPr lvl="1"/>
            <a:r>
              <a:rPr lang="en-US" dirty="0"/>
              <a:t>keywords, variable names</a:t>
            </a:r>
          </a:p>
          <a:p>
            <a:pPr lvl="1"/>
            <a:r>
              <a:rPr lang="en-US" dirty="0"/>
              <a:t>arithmetic operators, punctuation </a:t>
            </a:r>
            <a:r>
              <a:rPr lang="en-US" dirty="0" smtClean="0"/>
              <a:t>symbols</a:t>
            </a:r>
          </a:p>
          <a:p>
            <a:r>
              <a:rPr lang="en-US" smtClean="0"/>
              <a:t>Example LR Parser…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37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Another type of grammar</a:t>
            </a:r>
          </a:p>
          <a:p>
            <a:pPr lvl="1"/>
            <a:r>
              <a:rPr lang="en-US" dirty="0" smtClean="0"/>
              <a:t>Show a simple L-System</a:t>
            </a:r>
          </a:p>
          <a:p>
            <a:pPr lvl="1"/>
            <a:r>
              <a:rPr lang="en-US" dirty="0" smtClean="0"/>
              <a:t>Show a tree</a:t>
            </a:r>
          </a:p>
          <a:p>
            <a:pPr lvl="1"/>
            <a:r>
              <a:rPr lang="en-US" dirty="0" smtClean="0"/>
              <a:t>Show a fractal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249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Unrestricted Grammar - </a:t>
            </a:r>
            <a:r>
              <a:rPr lang="en-US" dirty="0" err="1" smtClean="0"/>
              <a:t>anbncn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1265224"/>
            <a:ext cx="2590800" cy="5195914"/>
          </a:xfrm>
        </p:spPr>
      </p:pic>
    </p:spTree>
    <p:extLst>
      <p:ext uri="{BB962C8B-B14F-4D97-AF65-F5344CB8AC3E}">
        <p14:creationId xmlns:p14="http://schemas.microsoft.com/office/powerpoint/2010/main" val="1170065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Trace </a:t>
            </a:r>
            <a:r>
              <a:rPr lang="en-US" dirty="0" err="1" smtClean="0"/>
              <a:t>aabbcc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83" y="1614967"/>
            <a:ext cx="8116433" cy="4496428"/>
          </a:xfrm>
        </p:spPr>
      </p:pic>
    </p:spTree>
    <p:extLst>
      <p:ext uri="{BB962C8B-B14F-4D97-AF65-F5344CB8AC3E}">
        <p14:creationId xmlns:p14="http://schemas.microsoft.com/office/powerpoint/2010/main" val="3786341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 - Unrestricted Grammar</a:t>
            </a:r>
            <a:br>
              <a:rPr lang="en-US" dirty="0" smtClean="0"/>
            </a:br>
            <a:r>
              <a:rPr lang="en-US" dirty="0" err="1" smtClean="0"/>
              <a:t>anbmcndm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867" y="2562837"/>
            <a:ext cx="1724266" cy="2600688"/>
          </a:xfrm>
        </p:spPr>
      </p:pic>
    </p:spTree>
    <p:extLst>
      <p:ext uri="{BB962C8B-B14F-4D97-AF65-F5344CB8AC3E}">
        <p14:creationId xmlns:p14="http://schemas.microsoft.com/office/powerpoint/2010/main" val="527008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 – Unrestricted Grammar (</a:t>
            </a:r>
            <a:r>
              <a:rPr lang="en-US" dirty="0" err="1" smtClean="0"/>
              <a:t>cont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524000"/>
            <a:ext cx="8534949" cy="4830763"/>
          </a:xfrm>
        </p:spPr>
      </p:pic>
    </p:spTree>
    <p:extLst>
      <p:ext uri="{BB962C8B-B14F-4D97-AF65-F5344CB8AC3E}">
        <p14:creationId xmlns:p14="http://schemas.microsoft.com/office/powerpoint/2010/main" val="2133574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592762"/>
          </a:xfrm>
        </p:spPr>
        <p:txBody>
          <a:bodyPr>
            <a:normAutofit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There are other ways to </a:t>
            </a:r>
            <a:r>
              <a:rPr lang="en-US" dirty="0"/>
              <a:t>get interaction in this </a:t>
            </a:r>
            <a:r>
              <a:rPr lang="en-US" dirty="0" smtClean="0"/>
              <a:t>course besides software…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109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/>
              <a:t>Interaction in Class – Props</a:t>
            </a:r>
            <a:br>
              <a:rPr lang="en-US"/>
            </a:br>
            <a:r>
              <a:rPr lang="en-US"/>
              <a:t>Edible Turing Machine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2743200" cy="50292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800"/>
              <a:t>TM for f(x)=2x where x is unary</a:t>
            </a:r>
          </a:p>
          <a:p>
            <a:pPr>
              <a:lnSpc>
                <a:spcPct val="90000"/>
              </a:lnSpc>
            </a:pPr>
            <a:endParaRPr lang="en-US" sz="2800"/>
          </a:p>
          <a:p>
            <a:pPr>
              <a:lnSpc>
                <a:spcPct val="90000"/>
              </a:lnSpc>
            </a:pPr>
            <a:r>
              <a:rPr lang="en-US" sz="2800"/>
              <a:t>TM is not correct, can you fix it? Then eat it!</a:t>
            </a:r>
          </a:p>
          <a:p>
            <a:pPr>
              <a:lnSpc>
                <a:spcPct val="90000"/>
              </a:lnSpc>
            </a:pPr>
            <a:endParaRPr lang="en-US" sz="2800"/>
          </a:p>
          <a:p>
            <a:pPr>
              <a:lnSpc>
                <a:spcPct val="90000"/>
              </a:lnSpc>
            </a:pPr>
            <a:r>
              <a:rPr lang="en-US" sz="2800"/>
              <a:t>States are blueberry muffins</a:t>
            </a:r>
          </a:p>
        </p:txBody>
      </p:sp>
      <p:pic>
        <p:nvPicPr>
          <p:cNvPr id="51204" name="Picture 4" descr="D:\talkghop04\fxequals2x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05200" y="1381125"/>
            <a:ext cx="4945063" cy="54768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34632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Students building DFA with cookies and icing</a:t>
            </a:r>
          </a:p>
        </p:txBody>
      </p:sp>
      <p:pic>
        <p:nvPicPr>
          <p:cNvPr id="52227" name="Picture 3" descr="D:\talkCraWkshpFeb05\FAjan20-05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28800"/>
            <a:ext cx="4738688" cy="3556000"/>
          </a:xfrm>
          <a:prstGeom prst="rect">
            <a:avLst/>
          </a:prstGeom>
          <a:noFill/>
        </p:spPr>
      </p:pic>
      <p:pic>
        <p:nvPicPr>
          <p:cNvPr id="52228" name="Picture 4" descr="D:\talkCraWkshpFeb05\FAjan20-05d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76800" y="3656013"/>
            <a:ext cx="4267200" cy="32019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25726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1119</Words>
  <Application>Microsoft Office PowerPoint</Application>
  <PresentationFormat>On-screen Show (4:3)</PresentationFormat>
  <Paragraphs>224</Paragraphs>
  <Slides>47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Office Theme</vt:lpstr>
      <vt:lpstr>An Interactive Approach to Formal Languages and Automata with JFLAP</vt:lpstr>
      <vt:lpstr>Formal Languages and Automata Theory</vt:lpstr>
      <vt:lpstr>Why Develop Tools for Automata?</vt:lpstr>
      <vt:lpstr>Overview of JFLAP</vt:lpstr>
      <vt:lpstr>JFLAP – Regular Languages</vt:lpstr>
      <vt:lpstr>JFLAP – Regular languages (more)</vt:lpstr>
      <vt:lpstr>JFLAP – Context-free Languages</vt:lpstr>
      <vt:lpstr>JFLAP – Recursively Enumerable Languages</vt:lpstr>
      <vt:lpstr>JFLAP -   L-Systems</vt:lpstr>
      <vt:lpstr>Students love L-Systems</vt:lpstr>
      <vt:lpstr>JFLAP’s Use Around the World</vt:lpstr>
      <vt:lpstr>Two-year JFLAP Study  Fourteen Faculty Adopter Participants</vt:lpstr>
      <vt:lpstr>Key Findings</vt:lpstr>
      <vt:lpstr>JFLAP Materials</vt:lpstr>
      <vt:lpstr>JFLAP Examples in Lecture</vt:lpstr>
      <vt:lpstr>Example</vt:lpstr>
      <vt:lpstr>Example</vt:lpstr>
      <vt:lpstr>Example – DFA for even binary numbers with an even number of ones</vt:lpstr>
      <vt:lpstr>Example – DFA for even binary numbers with an even number of ones</vt:lpstr>
      <vt:lpstr>Example: Build an NFA for valid integers</vt:lpstr>
      <vt:lpstr>NFA for all valid integers</vt:lpstr>
      <vt:lpstr>DFA annotated and w/shortcut</vt:lpstr>
      <vt:lpstr>Example: NFA  run and convert to DFA</vt:lpstr>
      <vt:lpstr>Corresponding DFA</vt:lpstr>
      <vt:lpstr>Minimize DFA  First add trap state q7  then build tree of distinguished states</vt:lpstr>
      <vt:lpstr>Final Minimal State DFA</vt:lpstr>
      <vt:lpstr>What next?</vt:lpstr>
      <vt:lpstr>Using JFLAP during Lecture</vt:lpstr>
      <vt:lpstr>Example : JFLAP during Lecture</vt:lpstr>
      <vt:lpstr>Example 1: JFLAP during Lecture (cont)</vt:lpstr>
      <vt:lpstr>Example : JFLAP during Lecture</vt:lpstr>
      <vt:lpstr>Example 2 (cont) Parse Tree Results</vt:lpstr>
      <vt:lpstr>With JFLAP, Exploring Concepts too tedious for paper</vt:lpstr>
      <vt:lpstr>NPDA to CFG</vt:lpstr>
      <vt:lpstr>JFLAP’s use Outside of Class</vt:lpstr>
      <vt:lpstr>Ordering of Problems in Homework</vt:lpstr>
      <vt:lpstr>Is this a TM for anbncn?</vt:lpstr>
      <vt:lpstr>Here is the correct TM for anbncn</vt:lpstr>
      <vt:lpstr>Why study finite automata?</vt:lpstr>
      <vt:lpstr>Lsystems</vt:lpstr>
      <vt:lpstr>Unrestricted Grammar - anbncn</vt:lpstr>
      <vt:lpstr>Trace aabbcc</vt:lpstr>
      <vt:lpstr>Example - Unrestricted Grammar anbmcndm</vt:lpstr>
      <vt:lpstr>Example – Unrestricted Grammar (cont)</vt:lpstr>
      <vt:lpstr> There are other ways to get interaction in this course besides software…</vt:lpstr>
      <vt:lpstr>Interaction in Class – Props Edible Turing Machine</vt:lpstr>
      <vt:lpstr>Students building DFA with cookies and icing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Integrating JFLAP into the classroom</dc:title>
  <dc:creator>rodger</dc:creator>
  <cp:lastModifiedBy>rodger</cp:lastModifiedBy>
  <cp:revision>19</cp:revision>
  <dcterms:created xsi:type="dcterms:W3CDTF">2011-03-03T16:24:18Z</dcterms:created>
  <dcterms:modified xsi:type="dcterms:W3CDTF">2011-03-10T02:25:41Z</dcterms:modified>
</cp:coreProperties>
</file>