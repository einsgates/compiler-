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82" r:id="rId6"/>
    <p:sldId id="280" r:id="rId7"/>
    <p:sldId id="261" r:id="rId8"/>
    <p:sldId id="264" r:id="rId9"/>
    <p:sldId id="281" r:id="rId10"/>
    <p:sldId id="262" r:id="rId11"/>
    <p:sldId id="265" r:id="rId12"/>
    <p:sldId id="263" r:id="rId13"/>
    <p:sldId id="283" r:id="rId14"/>
    <p:sldId id="266" r:id="rId15"/>
    <p:sldId id="267" r:id="rId16"/>
    <p:sldId id="268" r:id="rId17"/>
    <p:sldId id="278" r:id="rId18"/>
    <p:sldId id="279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06" autoAdjust="0"/>
    <p:restoredTop sz="95813" autoAdjust="0"/>
  </p:normalViewPr>
  <p:slideViewPr>
    <p:cSldViewPr>
      <p:cViewPr>
        <p:scale>
          <a:sx n="75" d="100"/>
          <a:sy n="75" d="100"/>
        </p:scale>
        <p:origin x="1714" y="30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97AB989-B81D-43B4-B8A9-18D93CB8DC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8EEB4B7-901C-4C6A-BEE4-8183291D5F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93F4748-9561-4A92-A550-6A5A4CB895F3}"/>
              </a:ext>
            </a:extLst>
          </p:cNvPr>
          <p:cNvSpPr>
            <a:spLocks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866780EE-2F86-4121-88C4-D1E76BB425E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D49F673F-62BE-4F49-8C7B-E54B8AF17D3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9469B60B-D82B-46D1-999B-CDE622F82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fld id="{02A8DDCD-0B61-449B-82B3-989DBFC7E6B8}" type="slidenum">
              <a:rPr altLang="zh-CN"/>
              <a:pPr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>
            <a:extLst>
              <a:ext uri="{FF2B5EF4-FFF2-40B4-BE49-F238E27FC236}">
                <a16:creationId xmlns:a16="http://schemas.microsoft.com/office/drawing/2014/main" id="{2902B94F-B497-42C3-A4D2-6D3F5942831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099" name="备注占位符 2">
            <a:extLst>
              <a:ext uri="{FF2B5EF4-FFF2-40B4-BE49-F238E27FC236}">
                <a16:creationId xmlns:a16="http://schemas.microsoft.com/office/drawing/2014/main" id="{9D5F5AA0-D68F-44B3-A6E4-45B37BC3057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4100" name="灯片编号占位符 3">
            <a:extLst>
              <a:ext uri="{FF2B5EF4-FFF2-40B4-BE49-F238E27FC236}">
                <a16:creationId xmlns:a16="http://schemas.microsoft.com/office/drawing/2014/main" id="{005716DF-BB6C-46E2-922F-A0DC708FAC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C954874-B14B-4A7A-91D0-EDA976A2C82E}" type="slidenum">
              <a:rPr altLang="zh-CN" sz="1200"/>
              <a:pPr/>
              <a:t>1</a:t>
            </a:fld>
            <a:endParaRPr lang="zh-CN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2BF9A0E3-6903-4F83-BCD6-4895D68DB0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E2C2A2E-9199-444D-9D2A-A9FA4A869A36}" type="slidenum">
              <a:rPr altLang="zh-CN" sz="1200"/>
              <a:pPr/>
              <a:t>4</a:t>
            </a:fld>
            <a:endParaRPr lang="zh-CN" altLang="zh-CN" sz="12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B6894F00-C76B-451A-9592-29D0D0205377}"/>
              </a:ext>
            </a:extLst>
          </p:cNvPr>
          <p:cNvSpPr>
            <a:spLocks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EA879691-F11E-400B-B386-A2EB8B70A88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1. 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闪存的出现，或者其他技术，很可能会改变内存与外存速度的差异、集成电路已经快走到了极限、激光照排技术替代传统的印刷技术等</a:t>
            </a:r>
          </a:p>
          <a:p>
            <a:pPr eaLnBrk="1" hangingPunct="1"/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2.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只有通过自己的消化吸收，才能变为自己的。</a:t>
            </a:r>
          </a:p>
          <a:p>
            <a:pPr eaLnBrk="1" hangingPunct="1"/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3.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DED27980-E231-4F44-A53B-A85285C464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D9629A9-94E8-461E-B287-0DF8C1102141}" type="slidenum">
              <a:rPr altLang="zh-CN" sz="1200"/>
              <a:pPr/>
              <a:t>10</a:t>
            </a:fld>
            <a:endParaRPr lang="zh-CN" altLang="zh-CN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00814295-4B70-454E-B55B-C2366CAC8B2F}"/>
              </a:ext>
            </a:extLst>
          </p:cNvPr>
          <p:cNvSpPr>
            <a:spLocks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EF6749C4-5226-4500-8555-A1DE215962D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algn="just" eaLnBrk="1" hangingPunct="1"/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正是由于这些形形色色、多不胜数的计算机语言，推动了计算机应用的飞速发展，使得计算机已经成为人类生活中不可缺少的重要部分。</a:t>
            </a:r>
            <a:endParaRPr lang="zh-CN" altLang="en-US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7C8D94-1E3A-41A2-8BE2-0B102E0BF7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F3BACB-6611-4CAE-AB21-D0682BAB1D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15E2D2-5F7C-4086-8223-5BC5260F4A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8410CE-41A7-4AFF-BE33-5662CE50F7A0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2779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560D94-DD5D-463D-B7C8-EF63C1DF73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DCFFAF-C1AD-4F0F-B749-63A31006A3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CC72F4E-9E95-4AEB-831A-6806CC4535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5A1C44-3142-49B2-AFB2-8DEA3BC5FAE6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80490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EA0E7F-5755-4589-B2D9-6B22766E3C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17CC69-BBCC-4E94-BD66-6842D3A73A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E75E48F-2894-44B5-9E87-E7FDE77F8F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BE804F-F8E7-4270-ACF4-5872E4ED908D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3778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37FD56-5586-4CC0-8D8D-5F40704245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03CB11-8B1F-495D-9624-4F0C9C619A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32A61A-D9DD-4460-AEB9-533A13ABD4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4562F3-87CE-4E6C-916C-29B75106792D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38866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E7B7FF7-B048-4678-8F6D-55EB08E787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056CCCC-FE32-459B-9123-26EFA393F8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85F9DB7-A040-4410-8939-434433B694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2AC8A4-1434-4B4B-B933-DDC9323FCDC9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0294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B8AE10A-117F-4B4D-B4CD-D1263EDFF3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53FA847-2265-44CE-80E9-A0A6E7C140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B94D51-BD21-4CE0-8431-D71D89D467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37F074-F6D3-4757-AE71-9AD7A6C658B9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5435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4921A62-A4E8-48C4-992C-75C5AC8F02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E2F2423-7061-4FE9-B41E-5338242AA8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B09074E-B5C4-4173-85AF-87CDA904B1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A25905-D641-4594-8419-ED66C4B13BE5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21460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19EABF-2DAE-44C4-BBFA-B911977DE9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29A69A-29C4-4FE1-AD51-BF91B836A4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AE9557-D4F3-480F-BED9-E190B00C22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C972BF-D9AE-4A75-8289-F034B8E890E5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36780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B3FEF0-BACD-47C0-B934-74F3E65B45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1F6115-F176-43DD-8118-656C4E40BD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297750-B322-4AD1-B0F3-02FA1CF2F0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E6521B-2ECF-4FDD-93A3-3A6B2E125E0F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61301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B46332B-3E9C-4B29-82F6-3327CBA4AF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35A39E-28EE-42D3-9963-7A68489A04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CDA309-2799-4F4B-90F7-9C193D6F7F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BFE127-3845-4DA0-B9D2-4B249CCC5F4E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41290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E3E105-6D82-4342-AF05-2F930E6509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1505A0-0FBA-4229-A92A-CEBFB3FB17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88A4F4-1A0D-4B62-9EF0-E3D47DA049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A486E8-8D48-4835-A39E-3A5AA24BC49C}" type="slidenum">
              <a:rPr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63772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192957A-F6C5-4672-8399-FDA5B64C6A5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56325E4-292D-4969-A3DD-3CE47A51FDC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3E217332-087E-49FF-8454-07FB2C8E664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kumimoji="1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0960DD60-4A2F-4239-84C2-4E1CF207B36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kumimoji="1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A5E77096-D636-4466-ADE6-E6F95C5823F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400" noProof="1"/>
            </a:lvl1pPr>
          </a:lstStyle>
          <a:p>
            <a:fld id="{6B6397BC-522F-4036-9BBA-2C6B1169855C}" type="slidenum">
              <a:rPr altLang="zh-CN"/>
              <a:pPr/>
              <a:t>‹#›</a:t>
            </a:fld>
            <a:endParaRPr lang="zh-CN" altLang="zh-CN"/>
          </a:p>
        </p:txBody>
      </p:sp>
      <p:pic>
        <p:nvPicPr>
          <p:cNvPr id="1031" name="Picture 7" descr="图标">
            <a:extLst>
              <a:ext uri="{FF2B5EF4-FFF2-40B4-BE49-F238E27FC236}">
                <a16:creationId xmlns:a16="http://schemas.microsoft.com/office/drawing/2014/main" id="{2B433092-2F14-420A-A3D9-91E97A211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7725" y="0"/>
            <a:ext cx="6762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anzhang@xidian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10.wmf"/><Relationship Id="rId18" Type="http://schemas.openxmlformats.org/officeDocument/2006/relationships/oleObject" Target="../embeddings/oleObject10.bin"/><Relationship Id="rId3" Type="http://schemas.openxmlformats.org/officeDocument/2006/relationships/image" Target="../media/image5.wmf"/><Relationship Id="rId21" Type="http://schemas.openxmlformats.org/officeDocument/2006/relationships/image" Target="../media/image14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12.wmf"/><Relationship Id="rId25" Type="http://schemas.openxmlformats.org/officeDocument/2006/relationships/image" Target="../media/image16.wmf"/><Relationship Id="rId2" Type="http://schemas.openxmlformats.org/officeDocument/2006/relationships/oleObject" Target="../embeddings/oleObject2.bin"/><Relationship Id="rId16" Type="http://schemas.openxmlformats.org/officeDocument/2006/relationships/oleObject" Target="../embeddings/oleObject9.bin"/><Relationship Id="rId20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9.wmf"/><Relationship Id="rId24" Type="http://schemas.openxmlformats.org/officeDocument/2006/relationships/oleObject" Target="../embeddings/oleObject13.bin"/><Relationship Id="rId5" Type="http://schemas.openxmlformats.org/officeDocument/2006/relationships/image" Target="../media/image6.wmf"/><Relationship Id="rId15" Type="http://schemas.openxmlformats.org/officeDocument/2006/relationships/image" Target="../media/image11.wmf"/><Relationship Id="rId23" Type="http://schemas.openxmlformats.org/officeDocument/2006/relationships/image" Target="../media/image15.wmf"/><Relationship Id="rId10" Type="http://schemas.openxmlformats.org/officeDocument/2006/relationships/oleObject" Target="../embeddings/oleObject6.bin"/><Relationship Id="rId19" Type="http://schemas.openxmlformats.org/officeDocument/2006/relationships/image" Target="../media/image13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8.bin"/><Relationship Id="rId22" Type="http://schemas.openxmlformats.org/officeDocument/2006/relationships/oleObject" Target="../embeddings/oleObject1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5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6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7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7C83690-C89A-40E5-9516-D81C7373A79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85813"/>
            <a:ext cx="7772400" cy="1195387"/>
          </a:xfrm>
        </p:spPr>
        <p:txBody>
          <a:bodyPr/>
          <a:lstStyle/>
          <a:p>
            <a:pPr eaLnBrk="1" hangingPunct="1"/>
            <a:r>
              <a:rPr lang="zh-CN" altLang="en-US" sz="5400">
                <a:ea typeface="隶书" panose="02010509060101010101" pitchFamily="49" charset="-122"/>
              </a:rPr>
              <a:t>编 译 原 理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156C5C9-5BAC-4AEA-AE1C-123815304D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724400"/>
            <a:ext cx="6400800" cy="1143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西安电子科技大学 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B36A6C3D-2571-46AB-A8CE-23EC97D84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2643188"/>
            <a:ext cx="6400800" cy="208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张 南</a:t>
            </a:r>
          </a:p>
          <a:p>
            <a:pPr algn="ctr" eaLnBrk="1" hangingPunct="1">
              <a:buFontTx/>
              <a:buNone/>
            </a:pPr>
            <a:r>
              <a:rPr lang="en-US" altLang="zh-CN" sz="2800" dirty="0">
                <a:latin typeface="Arial" panose="020B0604020202020204" pitchFamily="34" charset="0"/>
                <a:ea typeface="隶书" panose="02010509060101010101" pitchFamily="49" charset="-122"/>
                <a:hlinkClick r:id="rId3"/>
              </a:rPr>
              <a:t>nanzhang@xidian.edu.cn</a:t>
            </a:r>
            <a:endParaRPr lang="en-US" altLang="zh-CN" sz="2800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algn="ctr" eaLnBrk="1" hangingPunct="1">
              <a:buFontTx/>
              <a:buNone/>
            </a:pP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课程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QQ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群：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644928662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>
            <a:extLst>
              <a:ext uri="{FF2B5EF4-FFF2-40B4-BE49-F238E27FC236}">
                <a16:creationId xmlns:a16="http://schemas.microsoft.com/office/drawing/2014/main" id="{17C62854-9AB2-4BAA-B7EB-D88852A750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FA974A-F875-453A-A7E3-A31142CB9392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zh-CN" altLang="zh-CN" sz="14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3CE81E7B-5616-4D63-A117-131B807233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86600" y="0"/>
            <a:ext cx="2057400" cy="381000"/>
          </a:xfrm>
        </p:spPr>
        <p:txBody>
          <a:bodyPr/>
          <a:lstStyle/>
          <a:p>
            <a:pPr eaLnBrk="1" hangingPunct="1"/>
            <a:r>
              <a:rPr lang="zh-CN" altLang="en-US" sz="2400">
                <a:ea typeface="隶书" panose="02010509060101010101" pitchFamily="49" charset="-122"/>
              </a:rPr>
              <a:t>课程专业地位</a:t>
            </a:r>
            <a:r>
              <a:rPr lang="zh-CN" altLang="en-US">
                <a:ea typeface="华文行楷" panose="02010800040101010101" pitchFamily="2" charset="-122"/>
              </a:rPr>
              <a:t> 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35248D6C-2D4A-4604-A39F-547A2553C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800"/>
            <a:ext cx="914400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一、本课程讨论的领域和希望达到的目的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A5F1A7B-5799-43D4-86D1-52AE2B873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4600"/>
            <a:ext cx="9144000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</a:t>
            </a: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</a:t>
            </a:r>
            <a:r>
              <a:rPr lang="en-US" altLang="zh-CN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</a:t>
            </a:r>
            <a:r>
              <a:rPr lang="en-US" altLang="zh-CN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CCC 2002 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 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中国计算机科学与技术学科教程（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China Computing Curricula 2002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CCC2002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）提出的计算机科学与技术学科的知识体系，包括了</a:t>
            </a:r>
            <a:r>
              <a:rPr lang="en-US" altLang="zh-CN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14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个基本的知识领域。与本课程相关的：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 </a:t>
            </a:r>
            <a:r>
              <a:rPr lang="en-US" altLang="zh-CN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．程序设计基础（</a:t>
            </a:r>
            <a:r>
              <a:rPr lang="en-US" altLang="zh-CN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PF</a:t>
            </a:r>
            <a:r>
              <a:rPr lang="zh-CN" altLang="en-US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）：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程序设计基本结构、算法与问题求解、基本数据结构、递归、事件驱动程序设计。（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PLA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）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</a:t>
            </a:r>
            <a:r>
              <a:rPr lang="en-US" altLang="zh-CN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．程序设计语言（</a:t>
            </a:r>
            <a:r>
              <a:rPr lang="en-US" altLang="zh-CN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PL</a:t>
            </a:r>
            <a:r>
              <a:rPr lang="zh-CN" altLang="en-US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）：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程序设计语言概论、虚拟机、语言翻译简介、声明和类型、抽象机制、面向对象程序设计</a:t>
            </a: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（以上是核心）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；函数程序设计、语言翻译系统、类型系统、程序设计语言的语义、程序设计语言的设计</a:t>
            </a: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（以上是选修）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。（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PLA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PLT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） 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86EA860-8B4F-4EAF-B432-2A94FA2D2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962025"/>
            <a:ext cx="85344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</a:t>
            </a: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  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领域</a:t>
            </a: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	程序设计语言的应用－程序设计（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PLA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）</a:t>
            </a: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	程序设计语言的翻译－编译器的构造（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PLT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）</a:t>
            </a: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	程序设计语言的设计－语法、语义（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PLD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0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0" grpId="0" build="p"/>
      <p:bldP spid="10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>
            <a:extLst>
              <a:ext uri="{FF2B5EF4-FFF2-40B4-BE49-F238E27FC236}">
                <a16:creationId xmlns:a16="http://schemas.microsoft.com/office/drawing/2014/main" id="{7B5840B7-A47B-48F0-8FE3-D3F804E86B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185BBD-CE9B-4884-A8E1-5D71EB54CF4B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zh-CN" altLang="zh-CN" sz="14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7175569-60BD-4FBD-AC36-4097688BF5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05600" y="76200"/>
            <a:ext cx="2514600" cy="381000"/>
          </a:xfrm>
        </p:spPr>
        <p:txBody>
          <a:bodyPr/>
          <a:lstStyle/>
          <a:p>
            <a:pPr eaLnBrk="1" hangingPunct="1"/>
            <a:r>
              <a:rPr lang="zh-CN" altLang="en-US" sz="2400">
                <a:ea typeface="隶书" panose="02010509060101010101" pitchFamily="49" charset="-122"/>
              </a:rPr>
              <a:t>课程专业地位</a:t>
            </a:r>
            <a:r>
              <a:rPr lang="zh-CN" altLang="en-US" sz="2400">
                <a:ea typeface="华文行楷" panose="02010800040101010101" pitchFamily="2" charset="-122"/>
              </a:rPr>
              <a:t> </a:t>
            </a:r>
            <a:endParaRPr lang="zh-CN" altLang="en-US" sz="2400">
              <a:ea typeface="隶书" panose="02010509060101010101" pitchFamily="49" charset="-122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B4FA1AC4-82C4-41E6-A3C4-F9E47B0CB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8625"/>
            <a:ext cx="89154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</a:t>
            </a: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</a:t>
            </a:r>
            <a:r>
              <a:rPr lang="en-US" altLang="zh-CN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 </a:t>
            </a: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目的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	</a:t>
            </a:r>
            <a:r>
              <a:rPr lang="en-US" altLang="zh-CN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1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．了解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PL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的基本要素、工作原理、语言翻译的基本方法；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	</a:t>
            </a:r>
            <a:r>
              <a:rPr lang="en-US" altLang="zh-CN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2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．提升快速自学程序设计语言的能力；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	</a:t>
            </a:r>
            <a:r>
              <a:rPr lang="en-US" altLang="zh-CN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3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．掌握语言翻译的基本技能；</a:t>
            </a:r>
            <a:endParaRPr lang="en-US" altLang="zh-CN" sz="2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	4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．了解计算机科学的基本理论。</a:t>
            </a:r>
            <a:endParaRPr lang="en-US" altLang="zh-CN" sz="2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zh-CN" altLang="en-US" sz="2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58D2FAA8-106E-4F92-BC4F-B4E46D130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424708"/>
            <a:ext cx="868680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50000"/>
              </a:spcAft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二、学习方法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</a:t>
            </a: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</a:t>
            </a:r>
            <a:r>
              <a:rPr lang="en-US" altLang="zh-CN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 </a:t>
            </a: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本课程的特点</a:t>
            </a:r>
          </a:p>
          <a:p>
            <a:pPr lvl="1" algn="just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理论与实践并重</a:t>
            </a:r>
          </a:p>
          <a:p>
            <a:pPr lvl="1" algn="just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理论学习要严谨、方法掌握要灵活</a:t>
            </a:r>
          </a:p>
          <a:p>
            <a:pPr lvl="1" algn="just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提高自学能力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A5BC04D0-B3AC-4E0A-B27D-79A3260C2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756745"/>
            <a:ext cx="8382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</a:t>
            </a: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</a:t>
            </a:r>
            <a:r>
              <a:rPr lang="en-US" altLang="zh-CN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 </a:t>
            </a: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理论与技术的关系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适应飞速变化的技术的根本是注重基础理论学习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理论的演变是缓慢的、理论基础是相通的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相同的原理可以应用于不同的技术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  <p:bldP spid="819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>
            <a:extLst>
              <a:ext uri="{FF2B5EF4-FFF2-40B4-BE49-F238E27FC236}">
                <a16:creationId xmlns:a16="http://schemas.microsoft.com/office/drawing/2014/main" id="{AC66B9CA-556A-4B74-93E0-21F7E4A500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0B38A9-3D2B-4B07-A44E-900735956571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zh-CN" altLang="zh-CN" sz="14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FAC8ADF3-50E0-4934-BB23-8FF3FE315D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29400" y="76200"/>
            <a:ext cx="2667000" cy="381000"/>
          </a:xfrm>
        </p:spPr>
        <p:txBody>
          <a:bodyPr/>
          <a:lstStyle/>
          <a:p>
            <a:pPr eaLnBrk="1" hangingPunct="1"/>
            <a:r>
              <a:rPr lang="zh-CN" altLang="en-US" sz="2400">
                <a:ea typeface="隶书" panose="02010509060101010101" pitchFamily="49" charset="-122"/>
              </a:rPr>
              <a:t>课程专业地位</a:t>
            </a:r>
            <a:r>
              <a:rPr lang="zh-CN" altLang="en-US" sz="2400">
                <a:ea typeface="华文行楷" panose="02010800040101010101" pitchFamily="2" charset="-122"/>
              </a:rPr>
              <a:t> </a:t>
            </a:r>
            <a:endParaRPr lang="zh-CN" altLang="en-US" sz="2400">
              <a:ea typeface="隶书" panose="02010509060101010101" pitchFamily="49" charset="-122"/>
            </a:endParaRP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4068B8E1-B292-4D98-AB7B-12BD68D52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1925"/>
            <a:ext cx="91440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</a:t>
            </a: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 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勤动手、多实践、提高学习能力 </a:t>
            </a:r>
          </a:p>
          <a:p>
            <a:pPr lvl="1" algn="just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学到的知识是死的，总有过时的时候。只有通过学习知识提高学习能力，才是立于不败之地的保证。</a:t>
            </a:r>
          </a:p>
          <a:p>
            <a:pPr lvl="1" algn="just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记笔记：好记性不如烂笔头，通过动手加深理解和记忆。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做作业、做上机题：自己动手为主，参考</a:t>
            </a:r>
            <a:r>
              <a:rPr lang="zh-CN" altLang="en-US" sz="2400">
                <a:ea typeface="华文行楷" panose="02010800040101010101" pitchFamily="2" charset="-122"/>
              </a:rPr>
              <a:t>“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解答</a:t>
            </a:r>
            <a:r>
              <a:rPr lang="zh-CN" altLang="en-US" sz="2400">
                <a:ea typeface="华文行楷" panose="02010800040101010101" pitchFamily="2" charset="-122"/>
              </a:rPr>
              <a:t>”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为辅。 </a:t>
            </a:r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8DF481C4-2699-4415-9357-E8B7A4118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09775"/>
            <a:ext cx="9144000" cy="194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spcAft>
                <a:spcPct val="50000"/>
              </a:spcAft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三、其他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</a:t>
            </a: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</a:t>
            </a:r>
            <a:r>
              <a:rPr lang="en-US" altLang="zh-CN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 </a:t>
            </a: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课代表与课后辅导</a:t>
            </a:r>
          </a:p>
          <a:p>
            <a:pPr lvl="1" algn="just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课代表的职责：收缴作业；反映同学意见。</a:t>
            </a:r>
          </a:p>
          <a:p>
            <a:pPr lvl="1" algn="just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辅导时间：课代表与同学商量后确定。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99C0B12D-56DF-4DCC-93FE-5B6177E38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98913"/>
            <a:ext cx="9144000" cy="119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</a:t>
            </a: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</a:t>
            </a:r>
            <a:r>
              <a:rPr lang="en-US" altLang="zh-CN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 </a:t>
            </a: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平时作业与上机作业 </a:t>
            </a:r>
          </a:p>
          <a:p>
            <a:pPr lvl="1" algn="just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每章的课后题，每章结束后交作业，占期末成绩</a:t>
            </a:r>
            <a:r>
              <a:rPr lang="en-US" altLang="zh-CN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10%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。</a:t>
            </a:r>
          </a:p>
          <a:p>
            <a:pPr lvl="1" algn="just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验收上机题，提交上机报告，占期末成绩</a:t>
            </a:r>
            <a:r>
              <a:rPr lang="en-US" altLang="zh-CN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20%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。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BC9B4A2F-54AE-42D0-94CD-03D6D0EDE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" y="5203825"/>
            <a:ext cx="914400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</a:t>
            </a: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 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教材 </a:t>
            </a:r>
          </a:p>
          <a:p>
            <a:pPr lvl="1" algn="just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编译原理</a:t>
            </a:r>
          </a:p>
          <a:p>
            <a:pPr lvl="2" algn="just"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华文行楷" panose="02010800040101010101" pitchFamily="2" charset="-122"/>
                <a:ea typeface="华文行楷" panose="02010800040101010101" pitchFamily="2" charset="-122"/>
              </a:rPr>
              <a:t>主编：鱼滨、王小兵、张琛</a:t>
            </a:r>
          </a:p>
          <a:p>
            <a:pPr lvl="2" algn="just"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华文行楷" panose="02010800040101010101" pitchFamily="2" charset="-122"/>
                <a:ea typeface="华文行楷" panose="02010800040101010101" pitchFamily="2" charset="-122"/>
              </a:rPr>
              <a:t>西安电子科技大学出版社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2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2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 build="p" bldLvl="2"/>
      <p:bldP spid="2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图片 3">
            <a:extLst>
              <a:ext uri="{FF2B5EF4-FFF2-40B4-BE49-F238E27FC236}">
                <a16:creationId xmlns:a16="http://schemas.microsoft.com/office/drawing/2014/main" id="{9F837A6C-7CD1-4F72-9EFC-538599652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51A50BF-2E69-475B-B9E3-D4E263CEF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867400" y="76200"/>
            <a:ext cx="2590800" cy="533400"/>
          </a:xfrm>
        </p:spPr>
        <p:txBody>
          <a:bodyPr/>
          <a:lstStyle/>
          <a:p>
            <a:pPr algn="r" eaLnBrk="1" hangingPunct="1"/>
            <a:r>
              <a:rPr lang="zh-CN" altLang="en-US" sz="2400">
                <a:ea typeface="隶书" panose="02010509060101010101" pitchFamily="49" charset="-122"/>
              </a:rPr>
              <a:t>课程专业地位</a:t>
            </a:r>
            <a:r>
              <a:rPr lang="zh-CN" altLang="en-US" sz="2400">
                <a:ea typeface="华文行楷" panose="02010800040101010101" pitchFamily="2" charset="-122"/>
              </a:rPr>
              <a:t> </a:t>
            </a:r>
            <a:endParaRPr lang="zh-CN" altLang="en-US" sz="2400">
              <a:ea typeface="隶书" panose="02010509060101010101" pitchFamily="49" charset="-122"/>
            </a:endParaRP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CCA59090-5420-4BF2-A922-D3E11969D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88392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中文：</a:t>
            </a:r>
          </a:p>
          <a:p>
            <a:pPr algn="just" eaLnBrk="1" hangingPunct="1">
              <a:spcBef>
                <a:spcPct val="0"/>
              </a:spcBef>
            </a:pP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清华大学出版社，吕映芝等，</a:t>
            </a:r>
            <a:r>
              <a:rPr lang="zh-CN" altLang="en-US" sz="2400">
                <a:solidFill>
                  <a:schemeClr val="tx2"/>
                </a:solidFill>
                <a:latin typeface="华文楷体" panose="02010600040101010101" pitchFamily="2" charset="-122"/>
                <a:ea typeface="华文行楷" panose="02010800040101010101" pitchFamily="2" charset="-122"/>
              </a:rPr>
              <a:t>“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编译原理</a:t>
            </a:r>
            <a:r>
              <a:rPr lang="zh-CN" altLang="en-US" sz="2400">
                <a:solidFill>
                  <a:schemeClr val="tx2"/>
                </a:solidFill>
                <a:latin typeface="华文楷体" panose="02010600040101010101" pitchFamily="2" charset="-122"/>
                <a:ea typeface="华文行楷" panose="02010800040101010101" pitchFamily="2" charset="-122"/>
              </a:rPr>
              <a:t>”</a:t>
            </a:r>
            <a:endParaRPr lang="zh-CN" altLang="en-US" sz="2400">
              <a:solidFill>
                <a:schemeClr val="tx2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just" eaLnBrk="1" hangingPunct="1">
              <a:spcBef>
                <a:spcPct val="0"/>
              </a:spcBef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国防工业出版社，陈火旺等，</a:t>
            </a:r>
            <a:r>
              <a:rPr lang="zh-CN" altLang="en-US" sz="2400">
                <a:latin typeface="华文楷体" panose="02010600040101010101" pitchFamily="2" charset="-122"/>
                <a:ea typeface="华文行楷" panose="02010800040101010101" pitchFamily="2" charset="-122"/>
              </a:rPr>
              <a:t>“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程序设计语言编译原理</a:t>
            </a:r>
            <a:r>
              <a:rPr lang="zh-CN" altLang="en-US" sz="2400">
                <a:latin typeface="华文楷体" panose="02010600040101010101" pitchFamily="2" charset="-122"/>
                <a:ea typeface="华文行楷" panose="02010800040101010101" pitchFamily="2" charset="-122"/>
              </a:rPr>
              <a:t>”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（第三版）</a:t>
            </a:r>
          </a:p>
          <a:p>
            <a:pPr algn="just" eaLnBrk="1" hangingPunct="1">
              <a:spcBef>
                <a:spcPct val="0"/>
              </a:spcBef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西北工业大学出版社，蒋立源等，</a:t>
            </a:r>
            <a:r>
              <a:rPr lang="zh-CN" altLang="en-US" sz="2400">
                <a:latin typeface="华文楷体" panose="02010600040101010101" pitchFamily="2" charset="-122"/>
                <a:ea typeface="华文行楷" panose="02010800040101010101" pitchFamily="2" charset="-122"/>
              </a:rPr>
              <a:t>“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编译原理</a:t>
            </a:r>
            <a:r>
              <a:rPr lang="zh-CN" altLang="en-US" sz="2400">
                <a:latin typeface="华文楷体" panose="02010600040101010101" pitchFamily="2" charset="-122"/>
                <a:ea typeface="华文行楷" panose="02010800040101010101" pitchFamily="2" charset="-122"/>
              </a:rPr>
              <a:t>”</a:t>
            </a:r>
            <a:endParaRPr lang="zh-CN" altLang="en-US" sz="240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0244" name="Rectangle 5">
            <a:extLst>
              <a:ext uri="{FF2B5EF4-FFF2-40B4-BE49-F238E27FC236}">
                <a16:creationId xmlns:a16="http://schemas.microsoft.com/office/drawing/2014/main" id="{8E223F8B-1932-40FA-8251-5CF768BE4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28600"/>
            <a:ext cx="21415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</a:t>
            </a: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  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参考书目</a:t>
            </a:r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2C2E87DD-ECA2-4590-9DC1-253865C57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819400"/>
            <a:ext cx="8686800" cy="357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英文：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</a:pP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人民邮电出版社， </a:t>
            </a:r>
            <a:r>
              <a:rPr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Aho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等， </a:t>
            </a:r>
            <a:r>
              <a:rPr lang="zh-CN" altLang="en-US" sz="2400">
                <a:solidFill>
                  <a:schemeClr val="tx2"/>
                </a:solidFill>
                <a:latin typeface="华文楷体" panose="02010600040101010101" pitchFamily="2" charset="-122"/>
                <a:ea typeface="华文行楷" panose="02010800040101010101" pitchFamily="2" charset="-122"/>
              </a:rPr>
              <a:t>“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编译原理 技术与工具</a:t>
            </a:r>
            <a:r>
              <a:rPr lang="zh-CN" altLang="en-US" sz="2400">
                <a:solidFill>
                  <a:schemeClr val="tx2"/>
                </a:solidFill>
                <a:latin typeface="华文楷体" panose="02010600040101010101" pitchFamily="2" charset="-122"/>
                <a:ea typeface="华文行楷" panose="02010800040101010101" pitchFamily="2" charset="-122"/>
              </a:rPr>
              <a:t>”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（影印版）</a:t>
            </a: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——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龙书</a:t>
            </a:r>
            <a:endParaRPr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高等教育出版社，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Andrew W.Appel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，</a:t>
            </a:r>
            <a:r>
              <a:rPr lang="zh-CN" altLang="en-US" sz="2400">
                <a:latin typeface="华文楷体" panose="02010600040101010101" pitchFamily="2" charset="-122"/>
                <a:ea typeface="华文行楷" panose="02010800040101010101" pitchFamily="2" charset="-122"/>
              </a:rPr>
              <a:t>“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现代编译程序实现－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Java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语言</a:t>
            </a:r>
            <a:r>
              <a:rPr lang="zh-CN" altLang="en-US" sz="2400">
                <a:latin typeface="华文楷体" panose="02010600040101010101" pitchFamily="2" charset="-122"/>
                <a:ea typeface="华文行楷" panose="02010800040101010101" pitchFamily="2" charset="-122"/>
              </a:rPr>
              <a:t>”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（影印版）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——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虎书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机械工业出版社，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Steven S.Muchnick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，</a:t>
            </a:r>
            <a:r>
              <a:rPr lang="zh-CN" altLang="en-US" sz="2400">
                <a:latin typeface="华文楷体" panose="02010600040101010101" pitchFamily="2" charset="-122"/>
                <a:ea typeface="华文行楷" panose="02010800040101010101" pitchFamily="2" charset="-122"/>
              </a:rPr>
              <a:t>“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高级编译器设计与实现</a:t>
            </a:r>
            <a:r>
              <a:rPr lang="zh-CN" altLang="en-US" sz="2400">
                <a:latin typeface="华文楷体" panose="02010600040101010101" pitchFamily="2" charset="-122"/>
                <a:ea typeface="华文行楷" panose="02010800040101010101" pitchFamily="2" charset="-122"/>
              </a:rPr>
              <a:t>”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 （影印版）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——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鲸书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</a:pP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清华大学出版社，</a:t>
            </a:r>
            <a:r>
              <a:rPr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Hopcroft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等，</a:t>
            </a:r>
            <a:r>
              <a:rPr lang="zh-CN" altLang="en-US" sz="2400">
                <a:solidFill>
                  <a:schemeClr val="tx2"/>
                </a:solidFill>
                <a:latin typeface="华文楷体" panose="02010600040101010101" pitchFamily="2" charset="-122"/>
                <a:ea typeface="华文行楷" panose="02010800040101010101" pitchFamily="2" charset="-122"/>
              </a:rPr>
              <a:t>“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自动机理论、语言和计算机导论</a:t>
            </a:r>
            <a:r>
              <a:rPr lang="zh-CN" altLang="en-US" sz="2400">
                <a:solidFill>
                  <a:schemeClr val="tx2"/>
                </a:solidFill>
                <a:latin typeface="华文楷体" panose="02010600040101010101" pitchFamily="2" charset="-122"/>
                <a:ea typeface="华文行楷" panose="02010800040101010101" pitchFamily="2" charset="-122"/>
              </a:rPr>
              <a:t>”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（影印版）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/>
      <p:bldP spid="3687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>
            <a:extLst>
              <a:ext uri="{FF2B5EF4-FFF2-40B4-BE49-F238E27FC236}">
                <a16:creationId xmlns:a16="http://schemas.microsoft.com/office/drawing/2014/main" id="{36A10ABB-6529-4178-A3D2-AE073099C5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4D1345-DDB3-4549-9361-D875400A86AA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zh-CN" altLang="zh-CN" sz="14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D8474327-543B-4199-AAEC-B7E2471D0B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7772400" cy="685800"/>
          </a:xfrm>
        </p:spPr>
        <p:txBody>
          <a:bodyPr/>
          <a:lstStyle/>
          <a:p>
            <a:pPr algn="l" eaLnBrk="1" hangingPunct="1"/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第一章 引言</a:t>
            </a:r>
            <a:r>
              <a:rPr lang="zh-CN" altLang="en-US" sz="2400"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EC087328-13A3-41E3-9FD1-320934FA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685800"/>
            <a:ext cx="8686800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altLang="zh-CN" sz="360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1.1 </a:t>
            </a:r>
            <a:r>
              <a:rPr lang="zh-CN" altLang="en-US" sz="360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从面向机器的语言到面向人类的语言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面向机器的语言：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机器指令、汇编语言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面向人类的语言：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通用程序设计语言、非过程式语言，等等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86509F8D-97A2-476B-841E-42DFD8E07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171825"/>
            <a:ext cx="8382000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例</a:t>
            </a: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 :	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通用程序设计语言与汇编语言（包括机器指令） 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	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Pascal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语句：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x := a+b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C++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语句：     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x  = a+b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240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	汇编指令：	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十六进制代码	汇编指令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			</a:t>
            </a:r>
            <a:r>
              <a:rPr lang="en-US" altLang="zh-CN" sz="2400">
                <a:latin typeface="黑体" panose="02010609060101010101" pitchFamily="49" charset="-122"/>
              </a:rPr>
              <a:t>A10002        	MOV  AX, [A] 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</a:rPr>
              <a:t>			8B1E0202      	MOV  BX, [B] 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</a:rPr>
              <a:t>			01D8          	ADD  AX, BX 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</a:rPr>
              <a:t>			A30402        	MOV  [X], AX </a:t>
            </a:r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4D08151E-FCA3-4689-87BF-B69EA3A75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438400"/>
            <a:ext cx="292735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&lt;1&gt; </a:t>
            </a:r>
            <a:r>
              <a:rPr lang="zh-CN" altLang="en-US" sz="240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计算机语言举例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  <p:bldP spid="13317" grpId="0"/>
      <p:bldP spid="133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4B479A23-0C48-42F9-BF32-018A4E0AA6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91E7EB-5E64-47E1-9F1B-361D248B930A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zh-CN" altLang="zh-CN" sz="14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0DA22C7-284C-4EEA-B957-4F4FA872FF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0" y="152400"/>
            <a:ext cx="4114800" cy="457200"/>
          </a:xfrm>
        </p:spPr>
        <p:txBody>
          <a:bodyPr/>
          <a:lstStyle/>
          <a:p>
            <a:pPr algn="r" eaLnBrk="1" hangingPunct="1"/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&lt;1&gt;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计算机语言举例（续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1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）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DC0F7F10-AF56-4F81-9F4F-7574FE4C1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946525"/>
            <a:ext cx="44958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给出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003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号学生所选课程与成绩：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学号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,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姓名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,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课程名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,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成绩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   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学生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,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选课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where  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学生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.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学号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=</a:t>
            </a:r>
            <a:r>
              <a:rPr lang="en-US" altLang="zh-CN" sz="2400" dirty="0">
                <a:ea typeface="隶书" panose="02010509060101010101" pitchFamily="49" charset="-122"/>
              </a:rPr>
              <a:t>‘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003</a:t>
            </a:r>
            <a:r>
              <a:rPr lang="en-US" altLang="zh-CN" sz="2400" dirty="0">
                <a:ea typeface="隶书" panose="02010509060101010101" pitchFamily="49" charset="-122"/>
              </a:rPr>
              <a:t>’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 ;</a:t>
            </a: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DCB8A249-65A8-4DCE-82C7-94E3418AB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09600"/>
            <a:ext cx="571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例</a:t>
            </a: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 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SQL </a:t>
            </a: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 </a:t>
            </a:r>
            <a:r>
              <a:rPr lang="zh-CN" altLang="en-US" sz="2400">
                <a:ea typeface="华文行楷" panose="02010800040101010101" pitchFamily="2" charset="-122"/>
              </a:rPr>
              <a:t>学生：                            选课：</a:t>
            </a:r>
          </a:p>
        </p:txBody>
      </p:sp>
      <p:sp>
        <p:nvSpPr>
          <p:cNvPr id="12294" name="Rectangle 20">
            <a:extLst>
              <a:ext uri="{FF2B5EF4-FFF2-40B4-BE49-F238E27FC236}">
                <a16:creationId xmlns:a16="http://schemas.microsoft.com/office/drawing/2014/main" id="{82C7EF71-F9FE-490A-87B8-56FD98659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830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2295" name="Rectangle 24">
            <a:extLst>
              <a:ext uri="{FF2B5EF4-FFF2-40B4-BE49-F238E27FC236}">
                <a16:creationId xmlns:a16="http://schemas.microsoft.com/office/drawing/2014/main" id="{7EADF61E-5597-4F6F-855D-ABFCD9497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101330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18722" name="Group 290">
            <a:extLst>
              <a:ext uri="{FF2B5EF4-FFF2-40B4-BE49-F238E27FC236}">
                <a16:creationId xmlns:a16="http://schemas.microsoft.com/office/drawing/2014/main" id="{9E27B2B7-B390-4B5B-A310-A079F858767C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279525"/>
          <a:ext cx="2895600" cy="2489200"/>
        </p:xfrm>
        <a:graphic>
          <a:graphicData uri="http://schemas.openxmlformats.org/drawingml/2006/table">
            <a:tbl>
              <a:tblPr/>
              <a:tblGrid>
                <a:gridCol w="118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姓名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性别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001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张梧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002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李煦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003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王沁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004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刘荔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720" name="Group 288">
            <a:extLst>
              <a:ext uri="{FF2B5EF4-FFF2-40B4-BE49-F238E27FC236}">
                <a16:creationId xmlns:a16="http://schemas.microsoft.com/office/drawing/2014/main" id="{73EA510F-2D60-4CBB-9180-705F4E2B7ED4}"/>
              </a:ext>
            </a:extLst>
          </p:cNvPr>
          <p:cNvGraphicFramePr>
            <a:graphicFrameLocks noGrp="1"/>
          </p:cNvGraphicFramePr>
          <p:nvPr/>
        </p:nvGraphicFramePr>
        <p:xfrm>
          <a:off x="3810000" y="1279525"/>
          <a:ext cx="4876800" cy="2489200"/>
        </p:xfrm>
        <a:graphic>
          <a:graphicData uri="http://schemas.openxmlformats.org/drawingml/2006/table">
            <a:tbl>
              <a:tblPr/>
              <a:tblGrid>
                <a:gridCol w="925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课程代码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课程名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0104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离散数学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0205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数据结构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003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0104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离散数学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003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0205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数据结构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762" name="Group 330">
            <a:extLst>
              <a:ext uri="{FF2B5EF4-FFF2-40B4-BE49-F238E27FC236}">
                <a16:creationId xmlns:a16="http://schemas.microsoft.com/office/drawing/2014/main" id="{3582D395-CEB2-4B40-B8E2-29B98248960B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4203700"/>
          <a:ext cx="4572000" cy="1498600"/>
        </p:xfrm>
        <a:graphic>
          <a:graphicData uri="http://schemas.openxmlformats.org/drawingml/2006/table">
            <a:tbl>
              <a:tblPr/>
              <a:tblGrid>
                <a:gridCol w="868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姓名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课程名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003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王沁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离散数学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003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王沁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数据结构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8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>
            <a:extLst>
              <a:ext uri="{FF2B5EF4-FFF2-40B4-BE49-F238E27FC236}">
                <a16:creationId xmlns:a16="http://schemas.microsoft.com/office/drawing/2014/main" id="{B32FFF56-6E67-42E8-A69B-3011793D57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19600" y="152400"/>
            <a:ext cx="4038600" cy="533400"/>
          </a:xfrm>
        </p:spPr>
        <p:txBody>
          <a:bodyPr/>
          <a:lstStyle/>
          <a:p>
            <a:pPr algn="r" eaLnBrk="1" hangingPunct="1"/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&lt;1&gt;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计算机语言举例（续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2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）</a:t>
            </a:r>
          </a:p>
        </p:txBody>
      </p:sp>
      <p:sp>
        <p:nvSpPr>
          <p:cNvPr id="13315" name="Text Box 6">
            <a:extLst>
              <a:ext uri="{FF2B5EF4-FFF2-40B4-BE49-F238E27FC236}">
                <a16:creationId xmlns:a16="http://schemas.microsoft.com/office/drawing/2014/main" id="{56F169A1-6531-4C89-BCB1-F963C1DB4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" y="1025525"/>
            <a:ext cx="74993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例</a:t>
            </a:r>
            <a:r>
              <a:rPr lang="en-US" altLang="zh-CN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</a:t>
            </a: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：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	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LEX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的正规式：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char(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char|digit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)*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	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Yacc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的产生式：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E : E '+' E | E '*' E | id </a:t>
            </a:r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15009FA0-AF0C-48D7-B293-E4E1D0D33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" y="2106613"/>
            <a:ext cx="7346950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例</a:t>
            </a: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：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Unix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的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shell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命令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SHELL=/bin/sh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	# include env_precomp.mk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	CPDIR    = /u/pbsrc/chp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	ORAHOME  = /oracle/app/oracle/product/734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	.....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7C64C68E-AD47-45A6-8832-95690E35F7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2EE2ED-6323-49F4-8E09-FFE244794B4D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zh-CN" altLang="zh-CN" sz="14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068E09AE-B8E1-4440-88DA-F6DA152B96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675" y="434975"/>
            <a:ext cx="7772400" cy="533400"/>
          </a:xfrm>
        </p:spPr>
        <p:txBody>
          <a:bodyPr/>
          <a:lstStyle/>
          <a:p>
            <a:pPr algn="l" eaLnBrk="1" hangingPunct="1"/>
            <a:r>
              <a:rPr lang="en-US" altLang="zh-CN" sz="3600">
                <a:latin typeface="隶书" panose="02010509060101010101" pitchFamily="49" charset="-122"/>
                <a:ea typeface="隶书" panose="02010509060101010101" pitchFamily="49" charset="-122"/>
              </a:rPr>
              <a:t>&lt;2&gt;  </a:t>
            </a:r>
            <a:r>
              <a:rPr lang="zh-CN" altLang="en-US" sz="3600">
                <a:latin typeface="隶书" panose="02010509060101010101" pitchFamily="49" charset="-122"/>
                <a:ea typeface="隶书" panose="02010509060101010101" pitchFamily="49" charset="-122"/>
              </a:rPr>
              <a:t>按范型划分的程序设计语言</a:t>
            </a:r>
          </a:p>
        </p:txBody>
      </p:sp>
      <p:sp>
        <p:nvSpPr>
          <p:cNvPr id="15366" name="Text Box 6">
            <a:extLst>
              <a:ext uri="{FF2B5EF4-FFF2-40B4-BE49-F238E27FC236}">
                <a16:creationId xmlns:a16="http://schemas.microsoft.com/office/drawing/2014/main" id="{E586A285-F951-4757-9DE5-D6EEAECFD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1806575"/>
            <a:ext cx="83820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Simple Procedural Languages</a:t>
            </a:r>
            <a:r>
              <a:rPr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FORTRAN   C 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Block-Structured Procedural Languages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Pascal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Object-Based Languages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Ada  C++  Smalltalk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Functional Languages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LISP  ML  Haskell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Logic Programming Languages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Prolog</a:t>
            </a:r>
          </a:p>
        </p:txBody>
      </p:sp>
      <p:sp>
        <p:nvSpPr>
          <p:cNvPr id="14341" name="Rectangle 7">
            <a:extLst>
              <a:ext uri="{FF2B5EF4-FFF2-40B4-BE49-F238E27FC236}">
                <a16:creationId xmlns:a16="http://schemas.microsoft.com/office/drawing/2014/main" id="{2F88D895-6422-4308-B8EE-20BC4CBE6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" y="1060450"/>
            <a:ext cx="85804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       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清华大学出版社，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Terrence W.Pratt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等，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"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PROGRAMMING LANGUAGES Design and Implementation"(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影印版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3C4686D5-32C7-4BDD-A13A-0CB9E3EAA8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0AB920-B107-424F-B27A-6CBE646382C7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zh-CN" altLang="zh-CN" sz="14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CD8667B-57BB-488C-B1F2-AFEFD6912B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34975"/>
            <a:ext cx="7772400" cy="533400"/>
          </a:xfrm>
        </p:spPr>
        <p:txBody>
          <a:bodyPr/>
          <a:lstStyle/>
          <a:p>
            <a:pPr algn="l" eaLnBrk="1" hangingPunct="1"/>
            <a:r>
              <a:rPr lang="en-US" altLang="zh-CN" sz="3600">
                <a:latin typeface="隶书" panose="02010509060101010101" pitchFamily="49" charset="-122"/>
                <a:ea typeface="隶书" panose="02010509060101010101" pitchFamily="49" charset="-122"/>
              </a:rPr>
              <a:t>&lt;3&gt; </a:t>
            </a:r>
            <a:r>
              <a:rPr lang="zh-CN" altLang="en-US" sz="3600">
                <a:latin typeface="隶书" panose="02010509060101010101" pitchFamily="49" charset="-122"/>
                <a:ea typeface="隶书" panose="02010509060101010101" pitchFamily="49" charset="-122"/>
              </a:rPr>
              <a:t>其他面向特定应用领域的语言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329E82A0-2560-44A8-A4A0-FD4E47398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196975"/>
            <a:ext cx="75438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1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．互连网应用：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HTML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XML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2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．计算机辅助设计：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MATLAB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3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．集成电路设计：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VHDL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Verilog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4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．虚拟现实与人机交互：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VRML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ea typeface="华文行楷" panose="02010800040101010101" pitchFamily="2" charset="-122"/>
              </a:rPr>
              <a:t>……</a:t>
            </a:r>
            <a:endParaRPr lang="en-US" altLang="zh-CN" sz="240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77622379-03D0-45DE-8638-DC1421A5A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048000"/>
            <a:ext cx="8991600" cy="430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问题：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   如何将形形色色的语言翻译成可以在计算机上运行的</a:t>
            </a:r>
            <a:r>
              <a:rPr lang="en-US" altLang="zh-CN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0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、</a:t>
            </a:r>
            <a:r>
              <a:rPr lang="en-US" altLang="zh-CN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1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串</a:t>
            </a:r>
            <a:r>
              <a:rPr lang="en-US" altLang="zh-CN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答：面向人类的语言的产生导致了编译技术的产生。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</a:t>
            </a: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编译：将面向人类的高级语言（符合人类思维方式的、用文字描述的高级语言源程序）翻译成面向机器的低级语言（计算机能够理解和执行的低级语言目标程序）的过程。</a:t>
            </a:r>
            <a:endParaRPr lang="en-US" altLang="zh-CN" sz="2400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问题：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   由于语言的层次不同（高级语言、汇编语言、机器语言），语言之间的翻译还有哪些其他形式呢？</a:t>
            </a:r>
            <a:endParaRPr lang="zh-CN" altLang="en-US" sz="2400" dirty="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sz="2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946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>
            <a:extLst>
              <a:ext uri="{FF2B5EF4-FFF2-40B4-BE49-F238E27FC236}">
                <a16:creationId xmlns:a16="http://schemas.microsoft.com/office/drawing/2014/main" id="{83965DF4-469E-4633-867D-EBE36C45C8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EF5FAE-F525-41D5-86A2-8C72209FE313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zh-CN" altLang="zh-CN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F19D5D6C-57B1-4547-94C2-1C57AA2EDA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7772400" cy="685800"/>
          </a:xfrm>
        </p:spPr>
        <p:txBody>
          <a:bodyPr/>
          <a:lstStyle/>
          <a:p>
            <a:pPr algn="l" eaLnBrk="1" hangingPunct="1"/>
            <a:r>
              <a:rPr lang="en-US" altLang="zh-CN" sz="4000">
                <a:latin typeface="隶书" panose="02010509060101010101" pitchFamily="49" charset="-122"/>
                <a:ea typeface="隶书" panose="02010509060101010101" pitchFamily="49" charset="-122"/>
              </a:rPr>
              <a:t>1.2 </a:t>
            </a:r>
            <a:r>
              <a:rPr lang="zh-CN" altLang="en-US" sz="4000">
                <a:latin typeface="隶书" panose="02010509060101010101" pitchFamily="49" charset="-122"/>
                <a:ea typeface="隶书" panose="02010509060101010101" pitchFamily="49" charset="-122"/>
              </a:rPr>
              <a:t>语言之间的翻译</a:t>
            </a:r>
            <a:r>
              <a:rPr lang="zh-CN" altLang="en-US" sz="360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17414" name="Text Box 6">
            <a:extLst>
              <a:ext uri="{FF2B5EF4-FFF2-40B4-BE49-F238E27FC236}">
                <a16:creationId xmlns:a16="http://schemas.microsoft.com/office/drawing/2014/main" id="{0ADFA4D2-0FB5-401D-BAD2-A4C5499A1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" y="4533900"/>
            <a:ext cx="8188325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习惯称法：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&lt;1&gt; 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汇编语言－机器指令：汇编（或交叉汇编）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&lt;2&gt; 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程序设计语言－汇编语言或机器指令：编译（或解释）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&lt;3&gt; 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高级语言之间：转换（或预编译）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&lt;4&gt; 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逆向：反汇编、反编译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7E01899-1360-4292-83A3-38C93ED0A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51" y="839834"/>
            <a:ext cx="8608298" cy="35847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>
            <a:extLst>
              <a:ext uri="{FF2B5EF4-FFF2-40B4-BE49-F238E27FC236}">
                <a16:creationId xmlns:a16="http://schemas.microsoft.com/office/drawing/2014/main" id="{83965DF4-469E-4633-867D-EBE36C45C8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EF5FAE-F525-41D5-86A2-8C72209FE313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zh-CN" altLang="zh-CN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F19D5D6C-57B1-4547-94C2-1C57AA2EDA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7772400" cy="685800"/>
          </a:xfrm>
        </p:spPr>
        <p:txBody>
          <a:bodyPr/>
          <a:lstStyle/>
          <a:p>
            <a:pPr algn="l" eaLnBrk="1" hangingPunct="1"/>
            <a:r>
              <a:rPr lang="en-US" altLang="zh-CN" sz="4000">
                <a:latin typeface="隶书" panose="02010509060101010101" pitchFamily="49" charset="-122"/>
                <a:ea typeface="隶书" panose="02010509060101010101" pitchFamily="49" charset="-122"/>
              </a:rPr>
              <a:t>1.2 </a:t>
            </a:r>
            <a:r>
              <a:rPr lang="zh-CN" altLang="en-US" sz="4000">
                <a:latin typeface="隶书" panose="02010509060101010101" pitchFamily="49" charset="-122"/>
                <a:ea typeface="隶书" panose="02010509060101010101" pitchFamily="49" charset="-122"/>
              </a:rPr>
              <a:t>语言之间的翻译</a:t>
            </a:r>
            <a:r>
              <a:rPr lang="zh-CN" altLang="en-US" sz="360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graphicFrame>
        <p:nvGraphicFramePr>
          <p:cNvPr id="17412" name="Object 5">
            <a:extLst>
              <a:ext uri="{FF2B5EF4-FFF2-40B4-BE49-F238E27FC236}">
                <a16:creationId xmlns:a16="http://schemas.microsoft.com/office/drawing/2014/main" id="{90E51234-618E-4D88-A229-78A45291E1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762000"/>
          <a:ext cx="861060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550751" imgH="1471138" progId="Visio.Drawing.6">
                  <p:embed/>
                </p:oleObj>
              </mc:Choice>
              <mc:Fallback>
                <p:oleObj r:id="rId2" imgW="3550751" imgH="1471138" progId="Visio.Drawing.6">
                  <p:embed/>
                  <p:pic>
                    <p:nvPicPr>
                      <p:cNvPr id="17412" name="Object 5">
                        <a:extLst>
                          <a:ext uri="{FF2B5EF4-FFF2-40B4-BE49-F238E27FC236}">
                            <a16:creationId xmlns:a16="http://schemas.microsoft.com/office/drawing/2014/main" id="{90E51234-618E-4D88-A229-78A45291E1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762000"/>
                        <a:ext cx="8610600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6">
            <a:extLst>
              <a:ext uri="{FF2B5EF4-FFF2-40B4-BE49-F238E27FC236}">
                <a16:creationId xmlns:a16="http://schemas.microsoft.com/office/drawing/2014/main" id="{0ADFA4D2-0FB5-401D-BAD2-A4C5499A1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" y="4533900"/>
            <a:ext cx="8188325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习惯称法：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&lt;1&gt; 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汇编语言－机器指令：汇编（或交叉汇编）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&lt;2&gt; 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程序设计语言－汇编语言或机器指令：编译（或解释）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&lt;3&gt; 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高级语言之间：转换（或预编译）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&lt;4&gt; 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逆向：反汇编、反编译</a:t>
            </a:r>
          </a:p>
        </p:txBody>
      </p:sp>
    </p:spTree>
    <p:extLst>
      <p:ext uri="{BB962C8B-B14F-4D97-AF65-F5344CB8AC3E}">
        <p14:creationId xmlns:p14="http://schemas.microsoft.com/office/powerpoint/2010/main" val="265645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331706BA-9944-443D-8D15-A07CED7716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A694BE-A901-43DD-913A-9EDB19999650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zh-CN" altLang="zh-CN" sz="14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2C0254D-181D-45E8-91A1-F75A1D753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7772400" cy="609600"/>
          </a:xfrm>
        </p:spPr>
        <p:txBody>
          <a:bodyPr/>
          <a:lstStyle/>
          <a:p>
            <a:pPr algn="l" eaLnBrk="1" hangingPunct="1"/>
            <a:r>
              <a:rPr lang="en-US" altLang="zh-CN" sz="4000">
                <a:latin typeface="隶书" panose="02010509060101010101" pitchFamily="49" charset="-122"/>
                <a:ea typeface="隶书" panose="02010509060101010101" pitchFamily="49" charset="-122"/>
              </a:rPr>
              <a:t>1.3 </a:t>
            </a:r>
            <a:r>
              <a:rPr lang="zh-CN" altLang="en-US" sz="4000">
                <a:latin typeface="隶书" panose="02010509060101010101" pitchFamily="49" charset="-122"/>
                <a:ea typeface="隶书" panose="02010509060101010101" pitchFamily="49" charset="-122"/>
              </a:rPr>
              <a:t>编译器与解释器</a:t>
            </a:r>
            <a:r>
              <a:rPr lang="zh-CN" altLang="en-US" sz="360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1211D7A1-4242-43AF-BB85-C53A90380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838200"/>
            <a:ext cx="8458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语言翻译的两种基本形态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1.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先翻译后执行 				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2.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边翻译边执行 </a:t>
            </a:r>
          </a:p>
        </p:txBody>
      </p:sp>
      <p:sp>
        <p:nvSpPr>
          <p:cNvPr id="20488" name="Rectangle 8">
            <a:extLst>
              <a:ext uri="{FF2B5EF4-FFF2-40B4-BE49-F238E27FC236}">
                <a16:creationId xmlns:a16="http://schemas.microsoft.com/office/drawing/2014/main" id="{D4C01D70-DCEA-4A52-9487-228B98EF3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429000"/>
            <a:ext cx="86106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例</a:t>
            </a: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 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假设有源程序：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read(x);  write("x=", x);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</a:p>
        </p:txBody>
      </p:sp>
      <p:graphicFrame>
        <p:nvGraphicFramePr>
          <p:cNvPr id="20490" name="Object 10">
            <a:extLst>
              <a:ext uri="{FF2B5EF4-FFF2-40B4-BE49-F238E27FC236}">
                <a16:creationId xmlns:a16="http://schemas.microsoft.com/office/drawing/2014/main" id="{059C6B36-B8AE-4172-BE86-B357DC70A2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988" y="4079875"/>
          <a:ext cx="2384425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52571" imgH="348236" progId="Visio.Drawing.6">
                  <p:embed/>
                </p:oleObj>
              </mc:Choice>
              <mc:Fallback>
                <p:oleObj r:id="rId2" imgW="1052571" imgH="348236" progId="Visio.Drawing.6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8" y="4079875"/>
                        <a:ext cx="2384425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1" name="Object 11">
            <a:extLst>
              <a:ext uri="{FF2B5EF4-FFF2-40B4-BE49-F238E27FC236}">
                <a16:creationId xmlns:a16="http://schemas.microsoft.com/office/drawing/2014/main" id="{E7479B98-876E-4F69-AFD3-28BF3834F0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41148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57470" imgH="184002" progId="Visio.Drawing.6">
                  <p:embed/>
                </p:oleObj>
              </mc:Choice>
              <mc:Fallback>
                <p:oleObj r:id="rId4" imgW="657470" imgH="184002" progId="Visio.Drawing.6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114800"/>
                        <a:ext cx="1600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2" name="Object 12">
            <a:extLst>
              <a:ext uri="{FF2B5EF4-FFF2-40B4-BE49-F238E27FC236}">
                <a16:creationId xmlns:a16="http://schemas.microsoft.com/office/drawing/2014/main" id="{9F18E2A6-0BAB-46BC-8EF3-6A1368CBEE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5257800"/>
          <a:ext cx="1143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40124" imgH="216274" progId="Visio.Drawing.6">
                  <p:embed/>
                </p:oleObj>
              </mc:Choice>
              <mc:Fallback>
                <p:oleObj r:id="rId6" imgW="540124" imgH="216274" progId="Visio.Drawing.6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257800"/>
                        <a:ext cx="1143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3" name="Object 13">
            <a:extLst>
              <a:ext uri="{FF2B5EF4-FFF2-40B4-BE49-F238E27FC236}">
                <a16:creationId xmlns:a16="http://schemas.microsoft.com/office/drawing/2014/main" id="{12EC13E8-DBFE-42CA-B135-38467A3ED9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613" y="5181600"/>
          <a:ext cx="8651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31288" imgH="183552" progId="Visio.Drawing.6">
                  <p:embed/>
                </p:oleObj>
              </mc:Choice>
              <mc:Fallback>
                <p:oleObj r:id="rId8" imgW="331288" imgH="183552" progId="Visio.Drawing.6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3" y="5181600"/>
                        <a:ext cx="8651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Object 14">
            <a:extLst>
              <a:ext uri="{FF2B5EF4-FFF2-40B4-BE49-F238E27FC236}">
                <a16:creationId xmlns:a16="http://schemas.microsoft.com/office/drawing/2014/main" id="{147EA46E-A3F6-49D4-87C0-956570E508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5151438"/>
          <a:ext cx="12954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45448" imgH="183552" progId="Visio.Drawing.6">
                  <p:embed/>
                </p:oleObj>
              </mc:Choice>
              <mc:Fallback>
                <p:oleObj r:id="rId10" imgW="445448" imgH="183552" progId="Visio.Drawing.6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151438"/>
                        <a:ext cx="129540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5" name="Object 15">
            <a:extLst>
              <a:ext uri="{FF2B5EF4-FFF2-40B4-BE49-F238E27FC236}">
                <a16:creationId xmlns:a16="http://schemas.microsoft.com/office/drawing/2014/main" id="{0C84934C-AEEE-41EA-BC92-7648833259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1752600"/>
          <a:ext cx="4494213" cy="144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826553" imgH="602111" progId="Visio.Drawing.6">
                  <p:embed/>
                </p:oleObj>
              </mc:Choice>
              <mc:Fallback>
                <p:oleObj r:id="rId12" imgW="1826553" imgH="602111" progId="Visio.Drawing.6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752600"/>
                        <a:ext cx="4494213" cy="1443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6" name="Object 16">
            <a:extLst>
              <a:ext uri="{FF2B5EF4-FFF2-40B4-BE49-F238E27FC236}">
                <a16:creationId xmlns:a16="http://schemas.microsoft.com/office/drawing/2014/main" id="{B4CB669C-11B6-41D7-9170-02B3B2BFD6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1905000"/>
          <a:ext cx="36496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507524" imgH="328016" progId="Visio.Drawing.6">
                  <p:embed/>
                </p:oleObj>
              </mc:Choice>
              <mc:Fallback>
                <p:oleObj r:id="rId14" imgW="1507524" imgH="328016" progId="Visio.Drawing.6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905000"/>
                        <a:ext cx="364966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7" name="Object 17">
            <a:extLst>
              <a:ext uri="{FF2B5EF4-FFF2-40B4-BE49-F238E27FC236}">
                <a16:creationId xmlns:a16="http://schemas.microsoft.com/office/drawing/2014/main" id="{55C493DE-3320-4314-8015-1E5A24ABA0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4876800"/>
          <a:ext cx="1143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462803" imgH="249891" progId="Visio.Drawing.6">
                  <p:embed/>
                </p:oleObj>
              </mc:Choice>
              <mc:Fallback>
                <p:oleObj r:id="rId16" imgW="462803" imgH="249891" progId="Visio.Drawing.6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76800"/>
                        <a:ext cx="1143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1" name="Object 21">
            <a:extLst>
              <a:ext uri="{FF2B5EF4-FFF2-40B4-BE49-F238E27FC236}">
                <a16:creationId xmlns:a16="http://schemas.microsoft.com/office/drawing/2014/main" id="{4F8B4A10-DCBD-4B54-9186-8A4A8B1F8B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4724400"/>
          <a:ext cx="21955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975060" imgH="320152" progId="Visio.Drawing.6">
                  <p:embed/>
                </p:oleObj>
              </mc:Choice>
              <mc:Fallback>
                <p:oleObj r:id="rId18" imgW="975060" imgH="320152" progId="Visio.Drawing.6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724400"/>
                        <a:ext cx="21955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3" name="Object 23">
            <a:extLst>
              <a:ext uri="{FF2B5EF4-FFF2-40B4-BE49-F238E27FC236}">
                <a16:creationId xmlns:a16="http://schemas.microsoft.com/office/drawing/2014/main" id="{8635A7CF-3938-4AF5-9A4D-3829FE9FAF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5334000"/>
          <a:ext cx="2841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99489" imgH="382304" progId="Visio.Drawing.6">
                  <p:embed/>
                </p:oleObj>
              </mc:Choice>
              <mc:Fallback>
                <p:oleObj r:id="rId20" imgW="99489" imgH="382304" progId="Visio.Drawing.6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5334000"/>
                        <a:ext cx="28416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4" name="Object 24">
            <a:extLst>
              <a:ext uri="{FF2B5EF4-FFF2-40B4-BE49-F238E27FC236}">
                <a16:creationId xmlns:a16="http://schemas.microsoft.com/office/drawing/2014/main" id="{687C2E4E-DB52-4C47-BEBB-F8C31DFA69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4876800"/>
          <a:ext cx="1143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424183" imgH="183552" progId="Visio.Drawing.6">
                  <p:embed/>
                </p:oleObj>
              </mc:Choice>
              <mc:Fallback>
                <p:oleObj r:id="rId22" imgW="424183" imgH="183552" progId="Visio.Drawing.6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4876800"/>
                        <a:ext cx="1143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5" name="Object 25">
            <a:extLst>
              <a:ext uri="{FF2B5EF4-FFF2-40B4-BE49-F238E27FC236}">
                <a16:creationId xmlns:a16="http://schemas.microsoft.com/office/drawing/2014/main" id="{32F9BCF7-05E0-4E31-BE3A-0C5B8046A4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4114800"/>
          <a:ext cx="1219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571079" imgH="221027" progId="Visio.Drawing.6">
                  <p:embed/>
                </p:oleObj>
              </mc:Choice>
              <mc:Fallback>
                <p:oleObj r:id="rId24" imgW="571079" imgH="221027" progId="Visio.Drawing.6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114800"/>
                        <a:ext cx="1219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2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2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2048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>
            <a:extLst>
              <a:ext uri="{FF2B5EF4-FFF2-40B4-BE49-F238E27FC236}">
                <a16:creationId xmlns:a16="http://schemas.microsoft.com/office/drawing/2014/main" id="{8D9A38FA-6D35-4853-A745-0CC3170EB4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041095-8FC8-413C-8D05-692E95E5FBC7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zh-CN" altLang="zh-CN" sz="14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9639B6B-E86C-4284-B070-F3E22973F8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86400" y="0"/>
            <a:ext cx="3810000" cy="533400"/>
          </a:xfrm>
        </p:spPr>
        <p:txBody>
          <a:bodyPr/>
          <a:lstStyle/>
          <a:p>
            <a:pPr algn="l" eaLnBrk="1" hangingPunct="1"/>
            <a:r>
              <a:rPr lang="en-US" altLang="zh-CN" sz="2400">
                <a:latin typeface="隶书" panose="02010509060101010101" pitchFamily="49" charset="-122"/>
                <a:ea typeface="隶书" panose="02010509060101010101" pitchFamily="49" charset="-122"/>
              </a:rPr>
              <a:t>1.3 </a:t>
            </a:r>
            <a:r>
              <a:rPr lang="zh-CN" altLang="en-US" sz="2400">
                <a:latin typeface="隶书" panose="02010509060101010101" pitchFamily="49" charset="-122"/>
                <a:ea typeface="隶书" panose="02010509060101010101" pitchFamily="49" charset="-122"/>
              </a:rPr>
              <a:t>编译器与解释器（续）</a:t>
            </a:r>
          </a:p>
        </p:txBody>
      </p:sp>
      <p:graphicFrame>
        <p:nvGraphicFramePr>
          <p:cNvPr id="19460" name="Object 5">
            <a:extLst>
              <a:ext uri="{FF2B5EF4-FFF2-40B4-BE49-F238E27FC236}">
                <a16:creationId xmlns:a16="http://schemas.microsoft.com/office/drawing/2014/main" id="{87D9BB60-4817-42E9-9CBC-1E05F53BE4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762000"/>
          <a:ext cx="4494213" cy="144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26553" imgH="602111" progId="Visio.Drawing.6">
                  <p:embed/>
                </p:oleObj>
              </mc:Choice>
              <mc:Fallback>
                <p:oleObj r:id="rId2" imgW="1826553" imgH="602111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762000"/>
                        <a:ext cx="4494213" cy="1443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6">
            <a:extLst>
              <a:ext uri="{FF2B5EF4-FFF2-40B4-BE49-F238E27FC236}">
                <a16:creationId xmlns:a16="http://schemas.microsoft.com/office/drawing/2014/main" id="{CF803175-EDD3-4D6F-8439-1A003EC20B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3338" y="990600"/>
          <a:ext cx="364966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07524" imgH="328016" progId="Visio.Drawing.6">
                  <p:embed/>
                </p:oleObj>
              </mc:Choice>
              <mc:Fallback>
                <p:oleObj r:id="rId4" imgW="1507524" imgH="328016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3338" y="990600"/>
                        <a:ext cx="3649662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Rectangle 7">
            <a:extLst>
              <a:ext uri="{FF2B5EF4-FFF2-40B4-BE49-F238E27FC236}">
                <a16:creationId xmlns:a16="http://schemas.microsoft.com/office/drawing/2014/main" id="{B744D5F6-B9D3-44CF-9A0E-F92EE28FB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743200"/>
            <a:ext cx="8763000" cy="3342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特点：</a:t>
            </a:r>
          </a:p>
          <a:p>
            <a:pPr lvl="1" algn="just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编译器：工作效率高，即时间快、空间省；交互性与动态特性差、可移植性差。大多数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PL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采用此种方法翻译；</a:t>
            </a:r>
          </a:p>
          <a:p>
            <a:pPr lvl="1" algn="just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解释器：工作效率低，即时间慢、空间费；交互性与动态特性好、可移植性好。早期的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Basic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和现在的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Python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等。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基本功能：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二者相同；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所采用的技术：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从翻译的角度来讲，两种方式所涉及的原理、方法、技术相似。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1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15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15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15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15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1" grpId="0" build="p" bldLvl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0A401965-1A44-42CB-9263-D46B74E757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BD80A7-AEBE-4EC1-B52A-B190724EF485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zh-CN" altLang="zh-CN" sz="14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C6EF8A79-00C6-48F2-A395-8C1F8B8D70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839200" cy="1143000"/>
          </a:xfrm>
        </p:spPr>
        <p:txBody>
          <a:bodyPr/>
          <a:lstStyle/>
          <a:p>
            <a:pPr algn="l" eaLnBrk="1" hangingPunct="1">
              <a:lnSpc>
                <a:spcPct val="120000"/>
              </a:lnSpc>
            </a:pPr>
            <a:r>
              <a:rPr lang="en-US" altLang="zh-CN" sz="4000">
                <a:latin typeface="隶书" panose="02010509060101010101" pitchFamily="49" charset="-122"/>
                <a:ea typeface="隶书" panose="02010509060101010101" pitchFamily="49" charset="-122"/>
              </a:rPr>
              <a:t>1.4 </a:t>
            </a:r>
            <a:r>
              <a:rPr lang="zh-CN" altLang="en-US" sz="4000">
                <a:latin typeface="隶书" panose="02010509060101010101" pitchFamily="49" charset="-122"/>
                <a:ea typeface="隶书" panose="02010509060101010101" pitchFamily="49" charset="-122"/>
              </a:rPr>
              <a:t>编译器的工作原理与基本组成</a:t>
            </a:r>
            <a:br>
              <a:rPr lang="zh-CN" altLang="en-US" sz="4000">
                <a:latin typeface="隶书" panose="02010509060101010101" pitchFamily="49" charset="-122"/>
                <a:ea typeface="隶书" panose="02010509060101010101" pitchFamily="49" charset="-122"/>
              </a:rPr>
            </a:br>
            <a:r>
              <a:rPr lang="en-US" altLang="zh-CN" sz="3200">
                <a:latin typeface="隶书" panose="02010509060101010101" pitchFamily="49" charset="-122"/>
                <a:ea typeface="隶书" panose="02010509060101010101" pitchFamily="49" charset="-122"/>
              </a:rPr>
              <a:t>1.4.1 </a:t>
            </a:r>
            <a:r>
              <a:rPr lang="zh-CN" altLang="en-US" sz="3200">
                <a:latin typeface="隶书" panose="02010509060101010101" pitchFamily="49" charset="-122"/>
                <a:ea typeface="隶书" panose="02010509060101010101" pitchFamily="49" charset="-122"/>
              </a:rPr>
              <a:t>通用程序设计语言的主要成份</a:t>
            </a: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1CDED1FA-C25C-4ABA-8D3A-CECDCFBFE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．从语言抽象程度的演变看：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	基本结构：过程→抽象数据类型（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ADT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，程序包）→ 类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．共同特点：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两大部分组成：声明＋操作＝完整定义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．以过程式语言为例：</a:t>
            </a:r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49A8F612-6DA4-49DB-B928-26B4E8A47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260725"/>
            <a:ext cx="9144000" cy="142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声明性语句：提供操作对象的性质，如数据类型、值、作用域等；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操作性语句：确定操作的计算次序，完成实际操作。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	过程头＋过程体＝过程定义      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  <a:hlinkClick r:id="" action="ppaction://hlinkshowjump?jump=lastslide"/>
              </a:rPr>
              <a:t>例子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9EA5BFE1-0B92-44DE-82AA-A8F23E18A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648200"/>
            <a:ext cx="91440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．编译器对两类语句的翻译：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      声明：生成相应的环境，一般是配置存储空间。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      操作：生成可执行的代码序列。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zh-CN" altLang="en-US" sz="240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2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22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22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build="p"/>
      <p:bldP spid="22533" grpId="0" build="p"/>
      <p:bldP spid="2253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>
            <a:extLst>
              <a:ext uri="{FF2B5EF4-FFF2-40B4-BE49-F238E27FC236}">
                <a16:creationId xmlns:a16="http://schemas.microsoft.com/office/drawing/2014/main" id="{77E151DD-076D-4E9A-927F-33C7372F10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09F01B-F454-4595-AF5C-191601BAF203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zh-CN" altLang="zh-CN" sz="14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01C11733-4367-4863-B0A9-74A3CA7DD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7772400" cy="533400"/>
          </a:xfrm>
        </p:spPr>
        <p:txBody>
          <a:bodyPr/>
          <a:lstStyle/>
          <a:p>
            <a:pPr algn="l" eaLnBrk="1" hangingPunct="1"/>
            <a:r>
              <a:rPr lang="en-US" altLang="zh-CN" sz="3200">
                <a:latin typeface="隶书" panose="02010509060101010101" pitchFamily="49" charset="-122"/>
                <a:ea typeface="隶书" panose="02010509060101010101" pitchFamily="49" charset="-122"/>
              </a:rPr>
              <a:t>1.4.2 </a:t>
            </a:r>
            <a:r>
              <a:rPr lang="zh-CN" altLang="en-US" sz="3200">
                <a:latin typeface="隶书" panose="02010509060101010101" pitchFamily="49" charset="-122"/>
                <a:ea typeface="隶书" panose="02010509060101010101" pitchFamily="49" charset="-122"/>
              </a:rPr>
              <a:t>以阶段划分编译器</a:t>
            </a:r>
            <a:r>
              <a:rPr lang="zh-CN" altLang="en-US" sz="280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B890E51C-0F21-4917-9A5E-E1264B7A8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844550"/>
            <a:ext cx="38862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．自然语言的翻译过程：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	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识别单词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	识别句子结构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	理解意思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	译成中文并修饰 </a:t>
            </a:r>
          </a:p>
        </p:txBody>
      </p:sp>
      <p:graphicFrame>
        <p:nvGraphicFramePr>
          <p:cNvPr id="32775" name="Object 7">
            <a:extLst>
              <a:ext uri="{FF2B5EF4-FFF2-40B4-BE49-F238E27FC236}">
                <a16:creationId xmlns:a16="http://schemas.microsoft.com/office/drawing/2014/main" id="{9D210376-F13F-4B03-8122-05A03944F2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76738" y="152400"/>
          <a:ext cx="4386262" cy="640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72041" imgH="3254949" progId="Visio.Drawing.6">
                  <p:embed/>
                </p:oleObj>
              </mc:Choice>
              <mc:Fallback>
                <p:oleObj r:id="rId2" imgW="2372041" imgH="3254949" progId="Visio.Drawing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6738" y="152400"/>
                        <a:ext cx="4386262" cy="640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6" name="Rectangle 8">
            <a:extLst>
              <a:ext uri="{FF2B5EF4-FFF2-40B4-BE49-F238E27FC236}">
                <a16:creationId xmlns:a16="http://schemas.microsoft.com/office/drawing/2014/main" id="{7FBB00AF-9AAC-44EE-8C78-A45603BAF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746375"/>
            <a:ext cx="4648200" cy="272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．编译器的工作过程：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	词法分析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	语法分析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	语义分析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	目标代码生成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．编译器的阶段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（逻辑模块划分）</a:t>
            </a:r>
          </a:p>
        </p:txBody>
      </p:sp>
      <p:sp>
        <p:nvSpPr>
          <p:cNvPr id="32777" name="Rectangle 9">
            <a:extLst>
              <a:ext uri="{FF2B5EF4-FFF2-40B4-BE49-F238E27FC236}">
                <a16:creationId xmlns:a16="http://schemas.microsoft.com/office/drawing/2014/main" id="{91E579C8-B7B1-4C5F-B1FC-480419862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10200"/>
            <a:ext cx="48768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．中间代码的重要作用</a:t>
            </a:r>
            <a:endParaRPr lang="zh-CN" altLang="en-US" sz="240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32779" name="Object 11">
            <a:extLst>
              <a:ext uri="{FF2B5EF4-FFF2-40B4-BE49-F238E27FC236}">
                <a16:creationId xmlns:a16="http://schemas.microsoft.com/office/drawing/2014/main" id="{A49F098C-284D-49C7-80E1-1385D5933A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3074988"/>
          <a:ext cx="560388" cy="241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2509" imgH="1115478" progId="Visio.Drawing.6">
                  <p:embed/>
                </p:oleObj>
              </mc:Choice>
              <mc:Fallback>
                <p:oleObj r:id="rId4" imgW="332509" imgH="1115478" progId="Visio.Drawing.6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074988"/>
                        <a:ext cx="560388" cy="241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/>
      <p:bldP spid="32776" grpId="0"/>
      <p:bldP spid="3277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C00766BF-C0F2-42B7-9E9B-1D41BFF3C1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4070E3-EE78-40FE-9A9A-56D6C51A8E33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zh-CN" altLang="zh-CN" sz="14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6CF23CF4-66AA-4C1B-8272-54B0E2C13E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609600"/>
          </a:xfrm>
        </p:spPr>
        <p:txBody>
          <a:bodyPr/>
          <a:lstStyle/>
          <a:p>
            <a:pPr algn="l" eaLnBrk="1" hangingPunct="1"/>
            <a:r>
              <a:rPr lang="en-US" altLang="zh-CN" sz="3200">
                <a:latin typeface="隶书" panose="02010509060101010101" pitchFamily="49" charset="-122"/>
                <a:ea typeface="隶书" panose="02010509060101010101" pitchFamily="49" charset="-122"/>
              </a:rPr>
              <a:t>1.4.3 </a:t>
            </a:r>
            <a:r>
              <a:rPr lang="zh-CN" altLang="en-US" sz="3200">
                <a:latin typeface="隶书" panose="02010509060101010101" pitchFamily="49" charset="-122"/>
                <a:ea typeface="隶书" panose="02010509060101010101" pitchFamily="49" charset="-122"/>
              </a:rPr>
              <a:t>编译器各阶段的工作</a:t>
            </a:r>
            <a:r>
              <a:rPr lang="zh-CN" altLang="en-US" sz="280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3988ED97-027C-41FB-9D9A-828A8F8A6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600"/>
            <a:ext cx="3810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例</a:t>
            </a:r>
            <a:r>
              <a:rPr lang="en-US" altLang="zh-CN" sz="2400" b="1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7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Pascal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源程序语句如下：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      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var x, y, z : real;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      x := y + z * 60;</a:t>
            </a:r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96FEEA48-CB52-4762-8250-85DE0DA03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8800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（源程序）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var x, y, z : real;  x := y + z * 60; </a:t>
            </a:r>
          </a:p>
        </p:txBody>
      </p:sp>
      <p:graphicFrame>
        <p:nvGraphicFramePr>
          <p:cNvPr id="33800" name="Object 8">
            <a:extLst>
              <a:ext uri="{FF2B5EF4-FFF2-40B4-BE49-F238E27FC236}">
                <a16:creationId xmlns:a16="http://schemas.microsoft.com/office/drawing/2014/main" id="{EE665AC4-5CCA-429F-9126-B9D91902B8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2209800"/>
          <a:ext cx="1828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24933" imgH="264783" progId="Visio.Drawing.6">
                  <p:embed/>
                </p:oleObj>
              </mc:Choice>
              <mc:Fallback>
                <p:oleObj r:id="rId2" imgW="624933" imgH="264783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209800"/>
                        <a:ext cx="1828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1" name="Rectangle 9">
            <a:extLst>
              <a:ext uri="{FF2B5EF4-FFF2-40B4-BE49-F238E27FC236}">
                <a16:creationId xmlns:a16="http://schemas.microsoft.com/office/drawing/2014/main" id="{7B1E4AE2-E745-49EB-ABF7-8EBD4F682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95600"/>
            <a:ext cx="876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（记号流）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var id1, id2, id3 : real;  id1 := id2+id3*60; </a:t>
            </a:r>
          </a:p>
        </p:txBody>
      </p:sp>
      <p:graphicFrame>
        <p:nvGraphicFramePr>
          <p:cNvPr id="33803" name="Object 11">
            <a:extLst>
              <a:ext uri="{FF2B5EF4-FFF2-40B4-BE49-F238E27FC236}">
                <a16:creationId xmlns:a16="http://schemas.microsoft.com/office/drawing/2014/main" id="{8C1F4CF6-5178-4BC7-96CC-AC892F2ED7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7663" y="3297238"/>
          <a:ext cx="1912937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24933" imgH="264783" progId="Visio.Drawing.6">
                  <p:embed/>
                </p:oleObj>
              </mc:Choice>
              <mc:Fallback>
                <p:oleObj r:id="rId4" imgW="624933" imgH="264783" progId="Visio.Drawing.6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7663" y="3297238"/>
                        <a:ext cx="1912937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9" name="Text Box 17">
            <a:extLst>
              <a:ext uri="{FF2B5EF4-FFF2-40B4-BE49-F238E27FC236}">
                <a16:creationId xmlns:a16="http://schemas.microsoft.com/office/drawing/2014/main" id="{BD4A6F0D-7221-4ABA-BA6F-FDA1E1C0E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733800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ea typeface="华文行楷" panose="02010800040101010101" pitchFamily="2" charset="-122"/>
              </a:rPr>
              <a:t>（语法树）</a:t>
            </a:r>
          </a:p>
        </p:txBody>
      </p:sp>
      <p:graphicFrame>
        <p:nvGraphicFramePr>
          <p:cNvPr id="33810" name="Object 18">
            <a:extLst>
              <a:ext uri="{FF2B5EF4-FFF2-40B4-BE49-F238E27FC236}">
                <a16:creationId xmlns:a16="http://schemas.microsoft.com/office/drawing/2014/main" id="{BAE405A7-A97D-42F5-85F9-BB3F6C71C3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3810000"/>
          <a:ext cx="2779713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03121" imgH="902043" progId="Visio.Drawing.6">
                  <p:embed/>
                </p:oleObj>
              </mc:Choice>
              <mc:Fallback>
                <p:oleObj r:id="rId6" imgW="1103121" imgH="902043" progId="Visio.Drawing.6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810000"/>
                        <a:ext cx="2779713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1" name="Object 19">
            <a:extLst>
              <a:ext uri="{FF2B5EF4-FFF2-40B4-BE49-F238E27FC236}">
                <a16:creationId xmlns:a16="http://schemas.microsoft.com/office/drawing/2014/main" id="{E2B464C1-04F3-4397-A735-E42EC9AF3E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0875" y="3810000"/>
          <a:ext cx="2397125" cy="242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81800" imgH="895303" progId="Visio.Drawing.6">
                  <p:embed/>
                </p:oleObj>
              </mc:Choice>
              <mc:Fallback>
                <p:oleObj r:id="rId8" imgW="981800" imgH="895303" progId="Visio.Drawing.6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75" y="3810000"/>
                        <a:ext cx="2397125" cy="242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3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/>
      <p:bldP spid="33801" grpId="0"/>
      <p:bldP spid="3380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>
            <a:extLst>
              <a:ext uri="{FF2B5EF4-FFF2-40B4-BE49-F238E27FC236}">
                <a16:creationId xmlns:a16="http://schemas.microsoft.com/office/drawing/2014/main" id="{46202705-C11C-4AE0-93C3-BB6DB56EAD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9A8C50-54EC-479E-A6A3-2A4439082D6F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zh-CN" altLang="zh-CN" sz="1400"/>
          </a:p>
        </p:txBody>
      </p:sp>
      <p:sp>
        <p:nvSpPr>
          <p:cNvPr id="23555" name="Rectangle 5">
            <a:extLst>
              <a:ext uri="{FF2B5EF4-FFF2-40B4-BE49-F238E27FC236}">
                <a16:creationId xmlns:a16="http://schemas.microsoft.com/office/drawing/2014/main" id="{2AB3FC6F-F76D-4D5C-B1A7-635B96C26A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19600" y="-76200"/>
            <a:ext cx="4953000" cy="457200"/>
          </a:xfrm>
        </p:spPr>
        <p:txBody>
          <a:bodyPr lIns="92075" tIns="46038" rIns="92075" bIns="46038"/>
          <a:lstStyle/>
          <a:p>
            <a:pPr algn="r" eaLnBrk="1" hangingPunct="1"/>
            <a:r>
              <a:rPr lang="en-US" altLang="zh-CN" sz="2400">
                <a:latin typeface="隶书" panose="02010509060101010101" pitchFamily="49" charset="-122"/>
                <a:ea typeface="隶书" panose="02010509060101010101" pitchFamily="49" charset="-122"/>
              </a:rPr>
              <a:t>1.4.3 </a:t>
            </a:r>
            <a:r>
              <a:rPr lang="zh-CN" altLang="en-US" sz="2400">
                <a:latin typeface="隶书" panose="02010509060101010101" pitchFamily="49" charset="-122"/>
                <a:ea typeface="隶书" panose="02010509060101010101" pitchFamily="49" charset="-122"/>
              </a:rPr>
              <a:t>编译器各阶段的工作（续</a:t>
            </a:r>
            <a:r>
              <a:rPr lang="en-US" altLang="zh-CN" sz="2400"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2400">
                <a:latin typeface="隶书" panose="02010509060101010101" pitchFamily="49" charset="-122"/>
                <a:ea typeface="隶书" panose="02010509060101010101" pitchFamily="49" charset="-122"/>
              </a:rPr>
              <a:t>）</a:t>
            </a:r>
            <a:r>
              <a:rPr lang="zh-CN" altLang="en-US" sz="280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graphicFrame>
        <p:nvGraphicFramePr>
          <p:cNvPr id="23556" name="Object 6">
            <a:extLst>
              <a:ext uri="{FF2B5EF4-FFF2-40B4-BE49-F238E27FC236}">
                <a16:creationId xmlns:a16="http://schemas.microsoft.com/office/drawing/2014/main" id="{91BF5544-8F70-49C8-AC95-E3F67E4D39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1724025"/>
          <a:ext cx="1752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75128" imgH="214558" progId="Visio.Drawing.6">
                  <p:embed/>
                </p:oleObj>
              </mc:Choice>
              <mc:Fallback>
                <p:oleObj r:id="rId2" imgW="675128" imgH="214558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724025"/>
                        <a:ext cx="1752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9">
            <a:extLst>
              <a:ext uri="{FF2B5EF4-FFF2-40B4-BE49-F238E27FC236}">
                <a16:creationId xmlns:a16="http://schemas.microsoft.com/office/drawing/2014/main" id="{54CC35CA-F0E2-4211-8964-D477813CCF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4560888"/>
          <a:ext cx="251460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12153" imgH="212312" progId="Visio.Drawing.6">
                  <p:embed/>
                </p:oleObj>
              </mc:Choice>
              <mc:Fallback>
                <p:oleObj r:id="rId4" imgW="912153" imgH="212312" progId="Visio.Drawing.6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560888"/>
                        <a:ext cx="2514600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3" name="Rectangle 11">
            <a:extLst>
              <a:ext uri="{FF2B5EF4-FFF2-40B4-BE49-F238E27FC236}">
                <a16:creationId xmlns:a16="http://schemas.microsoft.com/office/drawing/2014/main" id="{1D3A14B8-8177-4E03-A346-089C43A84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848225"/>
            <a:ext cx="5181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中间代码的形式与作用：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(op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arg1, arg2, result)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result := arg1 op arg2</a:t>
            </a:r>
            <a:r>
              <a:rPr lang="en-US" altLang="zh-CN" sz="2000" dirty="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23566" name="Rectangle 14">
            <a:extLst>
              <a:ext uri="{FF2B5EF4-FFF2-40B4-BE49-F238E27FC236}">
                <a16:creationId xmlns:a16="http://schemas.microsoft.com/office/drawing/2014/main" id="{1BF38292-D6D7-457E-9B69-2EBDEA4C8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076825"/>
            <a:ext cx="39624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(1) (itr, 60,   ,	 T1)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(2) (*,  id3, T1,	 T2)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(3) (+,  id2, T2,	 T3)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(4) (:=,  T3,   , id1) </a:t>
            </a:r>
          </a:p>
        </p:txBody>
      </p:sp>
      <p:graphicFrame>
        <p:nvGraphicFramePr>
          <p:cNvPr id="23568" name="Object 16">
            <a:extLst>
              <a:ext uri="{FF2B5EF4-FFF2-40B4-BE49-F238E27FC236}">
                <a16:creationId xmlns:a16="http://schemas.microsoft.com/office/drawing/2014/main" id="{D3EDFAC1-0591-4309-966A-0942AFCED4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2184400"/>
          <a:ext cx="6477000" cy="258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690403" imgH="1061558" progId="Visio.Drawing.6">
                  <p:embed/>
                </p:oleObj>
              </mc:Choice>
              <mc:Fallback>
                <p:oleObj r:id="rId6" imgW="2690403" imgH="1061558" progId="Visio.Drawing.6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184400"/>
                        <a:ext cx="6477000" cy="2587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7">
            <a:extLst>
              <a:ext uri="{FF2B5EF4-FFF2-40B4-BE49-F238E27FC236}">
                <a16:creationId xmlns:a16="http://schemas.microsoft.com/office/drawing/2014/main" id="{CB4E63C5-1566-4C83-9A77-28ED226A62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304800"/>
          <a:ext cx="51054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198379" imgH="905413" progId="Visio.Drawing.6">
                  <p:embed/>
                </p:oleObj>
              </mc:Choice>
              <mc:Fallback>
                <p:oleObj r:id="rId8" imgW="2198379" imgH="905413" progId="Visio.Drawing.6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04800"/>
                        <a:ext cx="510540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3" grpId="0"/>
      <p:bldP spid="2356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B567D8F0-D25D-4A43-98A6-986BFEDEE0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452DF0-1052-46FF-B2A8-1491116532A0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zh-CN" altLang="zh-CN" sz="14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A61340C-C970-4033-BEB2-41CDDCA73A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14800" y="0"/>
            <a:ext cx="5181600" cy="457200"/>
          </a:xfrm>
        </p:spPr>
        <p:txBody>
          <a:bodyPr/>
          <a:lstStyle/>
          <a:p>
            <a:pPr algn="r" eaLnBrk="1" hangingPunct="1"/>
            <a:r>
              <a:rPr lang="en-US" altLang="zh-CN" sz="2400">
                <a:latin typeface="隶书" panose="02010509060101010101" pitchFamily="49" charset="-122"/>
                <a:ea typeface="隶书" panose="02010509060101010101" pitchFamily="49" charset="-122"/>
              </a:rPr>
              <a:t>1.4.3 </a:t>
            </a:r>
            <a:r>
              <a:rPr lang="zh-CN" altLang="en-US" sz="2400">
                <a:latin typeface="隶书" panose="02010509060101010101" pitchFamily="49" charset="-122"/>
                <a:ea typeface="隶书" panose="02010509060101010101" pitchFamily="49" charset="-122"/>
              </a:rPr>
              <a:t>编译器各阶段的工作（续</a:t>
            </a:r>
            <a:r>
              <a:rPr lang="en-US" altLang="zh-CN" sz="2400"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sz="2400">
                <a:latin typeface="隶书" panose="02010509060101010101" pitchFamily="49" charset="-122"/>
                <a:ea typeface="隶书" panose="02010509060101010101" pitchFamily="49" charset="-122"/>
              </a:rPr>
              <a:t>）</a:t>
            </a:r>
          </a:p>
        </p:txBody>
      </p:sp>
      <p:graphicFrame>
        <p:nvGraphicFramePr>
          <p:cNvPr id="24580" name="Object 5">
            <a:extLst>
              <a:ext uri="{FF2B5EF4-FFF2-40B4-BE49-F238E27FC236}">
                <a16:creationId xmlns:a16="http://schemas.microsoft.com/office/drawing/2014/main" id="{4449F281-5655-4D8A-A199-B6EEA97E5E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1981200"/>
          <a:ext cx="2438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18893" imgH="214558" progId="Visio.Drawing.6">
                  <p:embed/>
                </p:oleObj>
              </mc:Choice>
              <mc:Fallback>
                <p:oleObj r:id="rId2" imgW="918893" imgH="214558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981200"/>
                        <a:ext cx="2438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6">
            <a:extLst>
              <a:ext uri="{FF2B5EF4-FFF2-40B4-BE49-F238E27FC236}">
                <a16:creationId xmlns:a16="http://schemas.microsoft.com/office/drawing/2014/main" id="{106CEDF3-B00A-472A-BBB8-71ED2B1C54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3352800"/>
          <a:ext cx="25908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18893" imgH="214558" progId="Visio.Drawing.6">
                  <p:embed/>
                </p:oleObj>
              </mc:Choice>
              <mc:Fallback>
                <p:oleObj r:id="rId4" imgW="918893" imgH="214558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352800"/>
                        <a:ext cx="25908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9">
            <a:extLst>
              <a:ext uri="{FF2B5EF4-FFF2-40B4-BE49-F238E27FC236}">
                <a16:creationId xmlns:a16="http://schemas.microsoft.com/office/drawing/2014/main" id="{4CD07ABB-FC71-431D-85DB-64AA2D545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57200"/>
            <a:ext cx="39624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(1) (itr, 60,   ,	 T1)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(2) (*,  id3, T1,	 T2)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(3) (+,  id2, T2,	 T3)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(4) (:=,  T3,   , id1) </a:t>
            </a:r>
          </a:p>
        </p:txBody>
      </p:sp>
      <p:sp>
        <p:nvSpPr>
          <p:cNvPr id="24586" name="Rectangle 10">
            <a:extLst>
              <a:ext uri="{FF2B5EF4-FFF2-40B4-BE49-F238E27FC236}">
                <a16:creationId xmlns:a16="http://schemas.microsoft.com/office/drawing/2014/main" id="{2D384ED7-19B3-4C7E-A513-1140C581B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514600"/>
            <a:ext cx="3962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(1) (*, id3, 60.0,  T1)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(2) (+, id2,   T1, id1) </a:t>
            </a:r>
          </a:p>
        </p:txBody>
      </p:sp>
      <p:sp>
        <p:nvSpPr>
          <p:cNvPr id="24587" name="Rectangle 11">
            <a:extLst>
              <a:ext uri="{FF2B5EF4-FFF2-40B4-BE49-F238E27FC236}">
                <a16:creationId xmlns:a16="http://schemas.microsoft.com/office/drawing/2014/main" id="{2131600B-26C6-4E85-9CC4-1701603D6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962400"/>
            <a:ext cx="32004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MOVF	  id3,   R2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MULF	#60.0,   R2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MOVF	  id2,   R1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ADDF     R2,   R1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MOVF	   R1,  id1 </a:t>
            </a:r>
          </a:p>
        </p:txBody>
      </p:sp>
      <p:sp>
        <p:nvSpPr>
          <p:cNvPr id="24588" name="Text Box 12">
            <a:extLst>
              <a:ext uri="{FF2B5EF4-FFF2-40B4-BE49-F238E27FC236}">
                <a16:creationId xmlns:a16="http://schemas.microsoft.com/office/drawing/2014/main" id="{0EF71BB2-8B25-4F24-B9C1-DC3DBB7AF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962400"/>
            <a:ext cx="368935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R2 := id3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R2 := R2 * 60.0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R1 := id2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R1 := R1 + R2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id1 := R1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id1 := id2 + id3 * 60.0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x := y + z * 60;</a:t>
            </a:r>
          </a:p>
        </p:txBody>
      </p:sp>
      <p:graphicFrame>
        <p:nvGraphicFramePr>
          <p:cNvPr id="24589" name="Object 13">
            <a:extLst>
              <a:ext uri="{FF2B5EF4-FFF2-40B4-BE49-F238E27FC236}">
                <a16:creationId xmlns:a16="http://schemas.microsoft.com/office/drawing/2014/main" id="{E95B43EE-CAC5-43E4-B1C3-9D018FC89E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990600"/>
          <a:ext cx="37338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75015" imgH="832396" progId="Visio.Drawing.6">
                  <p:embed/>
                </p:oleObj>
              </mc:Choice>
              <mc:Fallback>
                <p:oleObj r:id="rId6" imgW="1175015" imgH="832396" progId="Visio.Drawing.6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990600"/>
                        <a:ext cx="37338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4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4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24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24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45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245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245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6" grpId="0"/>
      <p:bldP spid="24587" grpId="0"/>
      <p:bldP spid="24588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>
            <a:extLst>
              <a:ext uri="{FF2B5EF4-FFF2-40B4-BE49-F238E27FC236}">
                <a16:creationId xmlns:a16="http://schemas.microsoft.com/office/drawing/2014/main" id="{B35172F3-C7DC-4FAA-BB54-2F563D84F1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2C4FD1-E976-4D74-868D-0518A856F7E9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zh-CN" altLang="zh-CN" sz="14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877248BC-6ED6-4CDC-A6B4-D6EBDF5CD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91000" y="0"/>
            <a:ext cx="5105400" cy="533400"/>
          </a:xfrm>
        </p:spPr>
        <p:txBody>
          <a:bodyPr/>
          <a:lstStyle/>
          <a:p>
            <a:pPr algn="r" eaLnBrk="1" hangingPunct="1"/>
            <a:r>
              <a:rPr lang="en-US" altLang="zh-CN" sz="2400">
                <a:latin typeface="隶书" panose="02010509060101010101" pitchFamily="49" charset="-122"/>
                <a:ea typeface="隶书" panose="02010509060101010101" pitchFamily="49" charset="-122"/>
              </a:rPr>
              <a:t>1.4.3 </a:t>
            </a:r>
            <a:r>
              <a:rPr lang="zh-CN" altLang="en-US" sz="2400">
                <a:latin typeface="隶书" panose="02010509060101010101" pitchFamily="49" charset="-122"/>
                <a:ea typeface="隶书" panose="02010509060101010101" pitchFamily="49" charset="-122"/>
              </a:rPr>
              <a:t>编译器各阶段的工作（续</a:t>
            </a:r>
            <a:r>
              <a:rPr lang="en-US" altLang="zh-CN" sz="2400"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 sz="2400">
                <a:latin typeface="隶书" panose="02010509060101010101" pitchFamily="49" charset="-122"/>
                <a:ea typeface="隶书" panose="02010509060101010101" pitchFamily="49" charset="-122"/>
              </a:rPr>
              <a:t>）</a:t>
            </a: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685BBDB2-595F-4D6D-B0AB-C9E1BF227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400"/>
            <a:ext cx="342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各阶段工作的归纳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0F919685-1575-46F6-8575-974B85FD0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95325"/>
            <a:ext cx="9144000" cy="618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词法分析：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识别单词，至少分以下几大类：关键字（保留字）、标识符、字面量、特殊符号；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语法分析：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得到语言结构并以树的形式表示；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语义分析：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考察结构正确的句子是否语义合法，修改树结构；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中间代码生成（可选）：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生成一种既接近目标语言，又与具体机器无关的表示，便于优化与代码生成；</a:t>
            </a:r>
          </a:p>
          <a:p>
            <a:pPr lvl="1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（到目前为止，编译器与解释器可以一致） 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中间代码优化（可选）：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局部优化、循环优化、全局优化等；优化实际上是一个等价变换，变换前后的指令序列完成同样的功能，但在占用的空间上和程序执行的时间上都更省、更有效。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目标代码生成：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不同形式－汇编、可重定位、内存形式</a:t>
            </a:r>
            <a:r>
              <a:rPr lang="en-US" altLang="zh-CN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;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符号表管理：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记录符号信息并合理组织，便于各阶段查找、操作等；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400" dirty="0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出错处理：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错误的种类－词法错、语法错、静态语义错、动态语义错。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5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56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56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56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256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256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56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256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build="p" bldLvl="2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40FAA70E-BD3D-444E-B032-D38693051B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0F5EDD-22F0-4962-ADA1-88A9C15E7632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zh-CN" altLang="zh-CN" sz="14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C587FC54-44A8-4AA1-9CAF-414229AD99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609600"/>
          </a:xfrm>
        </p:spPr>
        <p:txBody>
          <a:bodyPr/>
          <a:lstStyle/>
          <a:p>
            <a:pPr algn="l" eaLnBrk="1" hangingPunct="1"/>
            <a:r>
              <a:rPr lang="en-US" altLang="zh-CN" sz="3200">
                <a:latin typeface="隶书" panose="02010509060101010101" pitchFamily="49" charset="-122"/>
                <a:ea typeface="隶书" panose="02010509060101010101" pitchFamily="49" charset="-122"/>
              </a:rPr>
              <a:t>1.4.4 </a:t>
            </a:r>
            <a:r>
              <a:rPr lang="zh-CN" altLang="en-US" sz="3200">
                <a:latin typeface="隶书" panose="02010509060101010101" pitchFamily="49" charset="-122"/>
                <a:ea typeface="隶书" panose="02010509060101010101" pitchFamily="49" charset="-122"/>
              </a:rPr>
              <a:t>编译器的分析</a:t>
            </a:r>
            <a:r>
              <a:rPr lang="en-US" altLang="zh-CN" sz="3200">
                <a:latin typeface="隶书" panose="02010509060101010101" pitchFamily="49" charset="-122"/>
                <a:ea typeface="隶书" panose="02010509060101010101" pitchFamily="49" charset="-122"/>
              </a:rPr>
              <a:t>/</a:t>
            </a:r>
            <a:r>
              <a:rPr lang="zh-CN" altLang="en-US" sz="3200">
                <a:latin typeface="隶书" panose="02010509060101010101" pitchFamily="49" charset="-122"/>
                <a:ea typeface="隶书" panose="02010509060101010101" pitchFamily="49" charset="-122"/>
              </a:rPr>
              <a:t>综合模式</a:t>
            </a:r>
            <a:r>
              <a:rPr lang="zh-CN" altLang="en-US" sz="280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graphicFrame>
        <p:nvGraphicFramePr>
          <p:cNvPr id="26628" name="Object 5">
            <a:extLst>
              <a:ext uri="{FF2B5EF4-FFF2-40B4-BE49-F238E27FC236}">
                <a16:creationId xmlns:a16="http://schemas.microsoft.com/office/drawing/2014/main" id="{135C00F5-E15B-41EB-B74F-A3789DA579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381000"/>
          <a:ext cx="86106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91342" imgH="979634" progId="Visio.Drawing.6">
                  <p:embed/>
                </p:oleObj>
              </mc:Choice>
              <mc:Fallback>
                <p:oleObj r:id="rId2" imgW="3691342" imgH="979634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81000"/>
                        <a:ext cx="86106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Rectangle 6">
            <a:extLst>
              <a:ext uri="{FF2B5EF4-FFF2-40B4-BE49-F238E27FC236}">
                <a16:creationId xmlns:a16="http://schemas.microsoft.com/office/drawing/2014/main" id="{10993940-DF79-4BE8-8C10-5E5B734D9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04800" y="2667000"/>
            <a:ext cx="56388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1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．前端：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语言结构和意义的分析；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．后端：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语言意义处理；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．中间代码：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前端与后端的分界；</a:t>
            </a:r>
          </a:p>
        </p:txBody>
      </p:sp>
      <p:sp>
        <p:nvSpPr>
          <p:cNvPr id="26632" name="Rectangle 8">
            <a:extLst>
              <a:ext uri="{FF2B5EF4-FFF2-40B4-BE49-F238E27FC236}">
                <a16:creationId xmlns:a16="http://schemas.microsoft.com/office/drawing/2014/main" id="{CC54E095-FA20-475A-AF53-753AA7912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62400"/>
            <a:ext cx="304800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．编译器基础架构</a:t>
            </a:r>
            <a:r>
              <a:rPr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Infrastructure</a:t>
            </a:r>
            <a:r>
              <a:rPr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：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源代码的中间表示、一组前端、一组后端；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灵活搭配，提高编译系统的开发效率。</a:t>
            </a:r>
            <a:endParaRPr lang="en-US" altLang="zh-CN" sz="240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6151" name="Picture 7">
            <a:extLst>
              <a:ext uri="{FF2B5EF4-FFF2-40B4-BE49-F238E27FC236}">
                <a16:creationId xmlns:a16="http://schemas.microsoft.com/office/drawing/2014/main" id="{976D43EF-2A7D-410C-805F-2EAD27AD2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4083050"/>
            <a:ext cx="5972175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5" dur="10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 build="p"/>
      <p:bldP spid="266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>
            <a:extLst>
              <a:ext uri="{FF2B5EF4-FFF2-40B4-BE49-F238E27FC236}">
                <a16:creationId xmlns:a16="http://schemas.microsoft.com/office/drawing/2014/main" id="{4CBE9EC1-DC9F-4D9D-8619-78DA640C4F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079D4C-1AC7-4134-84D7-EFB6E90F03C0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zh-CN" altLang="zh-CN" sz="14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141EDB0D-1F06-49A8-965B-90539AD33A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609600"/>
          </a:xfrm>
        </p:spPr>
        <p:txBody>
          <a:bodyPr/>
          <a:lstStyle/>
          <a:p>
            <a:pPr algn="l" eaLnBrk="1" hangingPunct="1"/>
            <a:r>
              <a:rPr lang="en-US" altLang="zh-CN" sz="3200">
                <a:latin typeface="隶书" panose="02010509060101010101" pitchFamily="49" charset="-122"/>
                <a:ea typeface="隶书" panose="02010509060101010101" pitchFamily="49" charset="-122"/>
              </a:rPr>
              <a:t>1.4.5 </a:t>
            </a:r>
            <a:r>
              <a:rPr lang="zh-CN" altLang="en-US" sz="3200">
                <a:latin typeface="隶书" panose="02010509060101010101" pitchFamily="49" charset="-122"/>
                <a:ea typeface="隶书" panose="02010509060101010101" pitchFamily="49" charset="-122"/>
              </a:rPr>
              <a:t>编译器扫描的遍数</a:t>
            </a:r>
            <a:r>
              <a:rPr lang="zh-CN" altLang="en-US" sz="280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75F48495-90B7-4485-9687-5BE743D72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2000"/>
            <a:ext cx="88392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AutoNum type="arabicPeriod"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每个阶段将程序</a:t>
            </a:r>
            <a:r>
              <a:rPr lang="zh-CN" altLang="en-US" sz="24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完整分析一遍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的工作模式称为一遍扫描。</a:t>
            </a: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确定扫描遍数的因素：</a:t>
            </a: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  <a:sym typeface="宋体" panose="02010600030101010101" pitchFamily="2" charset="-122"/>
              </a:rPr>
              <a:t>软、硬件条件，如内存太小</a:t>
            </a:r>
            <a:endParaRPr lang="zh-CN" altLang="en-US" sz="2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设计要求，如规定标识符的先声明后引用</a:t>
            </a:r>
          </a:p>
        </p:txBody>
      </p:sp>
      <p:sp>
        <p:nvSpPr>
          <p:cNvPr id="27653" name="Text Box 5">
            <a:extLst>
              <a:ext uri="{FF2B5EF4-FFF2-40B4-BE49-F238E27FC236}">
                <a16:creationId xmlns:a16="http://schemas.microsoft.com/office/drawing/2014/main" id="{5BEEAC21-C5E7-48E3-A888-CE97B2A24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276872"/>
            <a:ext cx="475615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…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x := f(a, b, c);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…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function f(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a:integer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       b:integer):integer;</a:t>
            </a:r>
          </a:p>
        </p:txBody>
      </p:sp>
      <p:sp>
        <p:nvSpPr>
          <p:cNvPr id="27654" name="Text Box 6">
            <a:extLst>
              <a:ext uri="{FF2B5EF4-FFF2-40B4-BE49-F238E27FC236}">
                <a16:creationId xmlns:a16="http://schemas.microsoft.com/office/drawing/2014/main" id="{76DBA8EB-F3B3-4F5F-8F93-845A16EE3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581525"/>
            <a:ext cx="4398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   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编译技术，如拉链－回填</a:t>
            </a:r>
          </a:p>
        </p:txBody>
      </p:sp>
      <p:sp>
        <p:nvSpPr>
          <p:cNvPr id="27655" name="Text Box 7">
            <a:extLst>
              <a:ext uri="{FF2B5EF4-FFF2-40B4-BE49-F238E27FC236}">
                <a16:creationId xmlns:a16="http://schemas.microsoft.com/office/drawing/2014/main" id="{06A50693-A02C-4B38-87CB-E09C00A2A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050" y="4800600"/>
            <a:ext cx="170815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…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goto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lab1;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…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lab1: </a:t>
            </a:r>
            <a:r>
              <a:rPr lang="en-US" altLang="zh-CN" sz="2400" dirty="0">
                <a:ea typeface="黑体" panose="02010609060101010101" pitchFamily="49" charset="-122"/>
              </a:rPr>
              <a:t>…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7656" name="Object 8">
            <a:extLst>
              <a:ext uri="{FF2B5EF4-FFF2-40B4-BE49-F238E27FC236}">
                <a16:creationId xmlns:a16="http://schemas.microsoft.com/office/drawing/2014/main" id="{5F297AF2-7AF0-4199-A182-5D802EC3BC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1371600"/>
          <a:ext cx="297180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72041" imgH="3254949" progId="Visio.Drawing.6">
                  <p:embed/>
                </p:oleObj>
              </mc:Choice>
              <mc:Fallback>
                <p:oleObj r:id="rId2" imgW="2372041" imgH="3254949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371600"/>
                        <a:ext cx="2971800" cy="502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7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build="p" bldLvl="2"/>
      <p:bldP spid="27653" grpId="0"/>
      <p:bldP spid="27654" grpId="0"/>
      <p:bldP spid="2765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D5B7B826-39E7-4D1D-92C4-203097F8BA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3DABD1-95DD-4E4E-BBFB-C8AD0FA33904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zh-CN" altLang="zh-CN" sz="14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BDC56AE-6828-4C62-B655-7C39B4F168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7772400" cy="685800"/>
          </a:xfrm>
        </p:spPr>
        <p:txBody>
          <a:bodyPr/>
          <a:lstStyle/>
          <a:p>
            <a:pPr algn="l" eaLnBrk="1" hangingPunct="1"/>
            <a:r>
              <a:rPr lang="en-US" altLang="zh-CN" sz="4000">
                <a:latin typeface="隶书" panose="02010509060101010101" pitchFamily="49" charset="-122"/>
                <a:ea typeface="隶书" panose="02010509060101010101" pitchFamily="49" charset="-122"/>
              </a:rPr>
              <a:t>1.5 </a:t>
            </a:r>
            <a:r>
              <a:rPr lang="zh-CN" altLang="en-US" sz="4000">
                <a:latin typeface="隶书" panose="02010509060101010101" pitchFamily="49" charset="-122"/>
                <a:ea typeface="隶书" panose="02010509060101010101" pitchFamily="49" charset="-122"/>
              </a:rPr>
              <a:t>编译器的编写</a:t>
            </a:r>
            <a:r>
              <a:rPr lang="zh-CN" altLang="en-US" sz="280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28681" name="Text Box 9">
            <a:extLst>
              <a:ext uri="{FF2B5EF4-FFF2-40B4-BE49-F238E27FC236}">
                <a16:creationId xmlns:a16="http://schemas.microsoft.com/office/drawing/2014/main" id="{B99ED18A-6F48-4D15-8018-B10658EB9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66800"/>
            <a:ext cx="8677275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直接使用汇编语言和程序设计语言；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利用编译器编写工具：词</a:t>
            </a:r>
            <a:r>
              <a:rPr lang="en-US" altLang="zh-CN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/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语法、语法制导翻译、代码生成、数据流分析等；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基于编译器基础架构的编译器构造系统（开放式编译器，如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GCC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SUIF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LLVM</a:t>
            </a:r>
            <a:r>
              <a:rPr lang="zh-CN" altLang="en-US" sz="2400" dirty="0">
                <a:latin typeface="华文行楷" panose="02010800040101010101" pitchFamily="2" charset="-122"/>
                <a:ea typeface="华文行楷" panose="02010800040101010101" pitchFamily="2" charset="-122"/>
              </a:rPr>
              <a:t>等）。 </a:t>
            </a:r>
          </a:p>
        </p:txBody>
      </p:sp>
      <p:sp>
        <p:nvSpPr>
          <p:cNvPr id="28682" name="Rectangle 10">
            <a:extLst>
              <a:ext uri="{FF2B5EF4-FFF2-40B4-BE49-F238E27FC236}">
                <a16:creationId xmlns:a16="http://schemas.microsoft.com/office/drawing/2014/main" id="{A1E2A567-F187-45C0-8090-061A41082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400" y="3427413"/>
            <a:ext cx="9144000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>
              <a:spcBef>
                <a:spcPct val="20000"/>
              </a:spcBef>
              <a:buChar char="•"/>
              <a:tabLst>
                <a:tab pos="6477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6477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6477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6477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6477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477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477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477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477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黑体" panose="02010609060101010101" pitchFamily="49" charset="-122"/>
                <a:ea typeface="黑体" panose="02010609060101010101" pitchFamily="49" charset="-122"/>
              </a:rPr>
              <a:t>GCC Home Page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. http://gcc.gnu.org.  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黑体" panose="02010609060101010101" pitchFamily="49" charset="-122"/>
                <a:ea typeface="黑体" panose="02010609060101010101" pitchFamily="49" charset="-122"/>
              </a:rPr>
              <a:t>Gasta Homepage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. http://gasta.sourceforge.net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黑体" panose="02010609060101010101" pitchFamily="49" charset="-122"/>
                <a:ea typeface="黑体" panose="02010609060101010101" pitchFamily="49" charset="-122"/>
              </a:rPr>
              <a:t>SUIF Compiler System Home Page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. http://suif.stanford.edu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8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86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86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1" grpId="0" build="p"/>
      <p:bldP spid="2868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>
            <a:extLst>
              <a:ext uri="{FF2B5EF4-FFF2-40B4-BE49-F238E27FC236}">
                <a16:creationId xmlns:a16="http://schemas.microsoft.com/office/drawing/2014/main" id="{80BEBA58-E0EB-491B-BAA1-9D672DBA85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70BE2D-62F6-428A-BB85-97845D53489A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zh-CN" altLang="zh-CN" sz="14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49BC663-291C-4F2E-AC1E-7091A4ED72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506413"/>
            <a:ext cx="4343400" cy="609600"/>
          </a:xfrm>
        </p:spPr>
        <p:txBody>
          <a:bodyPr/>
          <a:lstStyle/>
          <a:p>
            <a:pPr algn="l" eaLnBrk="1" hangingPunct="1"/>
            <a:r>
              <a:rPr lang="en-US" altLang="zh-CN" sz="4000">
                <a:latin typeface="隶书" panose="02010509060101010101" pitchFamily="49" charset="-122"/>
                <a:ea typeface="隶书" panose="02010509060101010101" pitchFamily="49" charset="-122"/>
              </a:rPr>
              <a:t>1.6 </a:t>
            </a:r>
            <a:r>
              <a:rPr lang="zh-CN" altLang="en-US" sz="4000">
                <a:latin typeface="隶书" panose="02010509060101010101" pitchFamily="49" charset="-122"/>
                <a:ea typeface="隶书" panose="02010509060101010101" pitchFamily="49" charset="-122"/>
              </a:rPr>
              <a:t>本章小结</a:t>
            </a:r>
            <a:r>
              <a:rPr lang="zh-CN" altLang="en-US" sz="280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B0760214-13F0-4089-A394-4CBEC9B85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68413"/>
            <a:ext cx="6858000" cy="274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1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．语言与语言的翻译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2.  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编译器与解释器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3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．编译器的基本组成（工作）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4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．编译器的分析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/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综合模式，编译器基础架构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5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．扫描遍数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6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．编译器的编写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29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>
            <a:extLst>
              <a:ext uri="{FF2B5EF4-FFF2-40B4-BE49-F238E27FC236}">
                <a16:creationId xmlns:a16="http://schemas.microsoft.com/office/drawing/2014/main" id="{23D608FE-AE57-445D-8B50-DD6A562EDE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CC92F6-E0D1-4203-835F-105CE8A0AB5B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zh-CN" altLang="zh-CN" sz="14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7BAECD66-0A49-485D-9153-DD1CAF5060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5908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隶书" panose="02010509060101010101" pitchFamily="49" charset="-122"/>
                <a:ea typeface="隶书" panose="02010509060101010101" pitchFamily="49" charset="-122"/>
              </a:rPr>
              <a:t>第一章  结束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>
            <a:extLst>
              <a:ext uri="{FF2B5EF4-FFF2-40B4-BE49-F238E27FC236}">
                <a16:creationId xmlns:a16="http://schemas.microsoft.com/office/drawing/2014/main" id="{3AA5F01A-B137-4D61-8754-9B05252262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5743FB-AA94-4321-88A1-E4722F59C5E6}" type="slidenum">
              <a:rPr altLang="zh-CN" sz="140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zh-CN" altLang="zh-CN" sz="14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F17D9F12-2660-4105-8E19-71A7F9877F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5867400" cy="53340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latin typeface="隶书" panose="02010509060101010101" pitchFamily="49" charset="-122"/>
                <a:ea typeface="隶书" panose="02010509060101010101" pitchFamily="49" charset="-122"/>
              </a:rPr>
              <a:t>例</a:t>
            </a:r>
            <a:r>
              <a:rPr lang="en-US" altLang="zh-CN" sz="2800" b="1">
                <a:latin typeface="隶书" panose="02010509060101010101" pitchFamily="49" charset="-122"/>
                <a:ea typeface="隶书" panose="02010509060101010101" pitchFamily="49" charset="-122"/>
              </a:rPr>
              <a:t>6</a:t>
            </a:r>
            <a:r>
              <a:rPr lang="en-US" altLang="zh-CN" sz="280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2800">
                <a:latin typeface="隶书" panose="02010509060101010101" pitchFamily="49" charset="-122"/>
                <a:ea typeface="隶书" panose="02010509060101010101" pitchFamily="49" charset="-122"/>
              </a:rPr>
              <a:t>有一</a:t>
            </a:r>
            <a:r>
              <a:rPr lang="en-US" altLang="zh-CN" sz="2800">
                <a:latin typeface="隶书" panose="02010509060101010101" pitchFamily="49" charset="-122"/>
                <a:ea typeface="隶书" panose="02010509060101010101" pitchFamily="49" charset="-122"/>
              </a:rPr>
              <a:t>Pascal</a:t>
            </a:r>
            <a:r>
              <a:rPr lang="zh-CN" altLang="en-US" sz="2800">
                <a:latin typeface="隶书" panose="02010509060101010101" pitchFamily="49" charset="-122"/>
                <a:ea typeface="隶书" panose="02010509060101010101" pitchFamily="49" charset="-122"/>
              </a:rPr>
              <a:t>的过程如下所示 </a:t>
            </a:r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BFAD9BCA-AAE9-4332-9CF8-828FC6108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91440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(1)   procedure sample(y: integer);	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{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过程头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}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(2)     var x : integer;		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{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过程体（开始）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}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(3)     begin x := y;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(4)           if x&gt;100 then x := 0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(5)     end;				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{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过程体（结束）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}</a:t>
            </a:r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AB626418-EE2C-4427-91C3-196C56808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000"/>
            <a:ext cx="914400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        (1)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是过程头，它是一个声明性的语句，为使用者提供调用信息，包括过程名、参数、返回值（如果有的话）等。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（接口）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        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(2)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至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(5)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是过程体，它是一个语句序列。语句序列中既包括声明性语句也包括操作性语句。</a:t>
            </a:r>
            <a:r>
              <a:rPr lang="zh-CN" altLang="en-US" sz="2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（实现）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        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(2)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是声明性语句，而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(3)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至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(5)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是操作性语句。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        对于编译器来讲，它对声明性语句的处理一般是生成相应的</a:t>
            </a:r>
            <a:r>
              <a:rPr lang="zh-CN" altLang="en-US" sz="2400" u="sng">
                <a:latin typeface="华文行楷" panose="02010800040101010101" pitchFamily="2" charset="-122"/>
                <a:ea typeface="华文行楷" panose="02010800040101010101" pitchFamily="2" charset="-122"/>
              </a:rPr>
              <a:t>环境（存储空间）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，而对操作性语句则是生成此环境中的</a:t>
            </a:r>
            <a:r>
              <a:rPr lang="zh-CN" altLang="en-US" sz="2400" u="sng">
                <a:latin typeface="华文行楷" panose="02010800040101010101" pitchFamily="2" charset="-122"/>
                <a:ea typeface="华文行楷" panose="02010800040101010101" pitchFamily="2" charset="-122"/>
              </a:rPr>
              <a:t>可执行代码序列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。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        为了便于编译器的处理，操作性语句中使用的每个操作对象，均应在使用前声明，即符合</a:t>
            </a:r>
            <a:r>
              <a:rPr lang="zh-CN" altLang="en-US" sz="2400" u="sng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先声明后引用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的原则。</a:t>
            </a:r>
          </a:p>
        </p:txBody>
      </p:sp>
      <p:sp>
        <p:nvSpPr>
          <p:cNvPr id="31751" name="Text Box 7">
            <a:extLst>
              <a:ext uri="{FF2B5EF4-FFF2-40B4-BE49-F238E27FC236}">
                <a16:creationId xmlns:a16="http://schemas.microsoft.com/office/drawing/2014/main" id="{A6CBC3D2-6A34-46A5-975E-08DF4E307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6245225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>
                <a:ea typeface="隶书" panose="02010509060101010101" pitchFamily="49" charset="-122"/>
                <a:hlinkClick r:id="rId2" action="ppaction://hlinksldjump"/>
              </a:rPr>
              <a:t>返回</a:t>
            </a:r>
            <a:endParaRPr lang="zh-CN" altLang="en-US" sz="2000"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1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17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17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17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317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/>
      <p:bldP spid="31750" grpId="0" build="p"/>
      <p:bldP spid="31751" grpId="0"/>
    </p:bldLst>
  </p:timing>
</p:sld>
</file>

<file path=ppt/theme/theme1.xml><?xml version="1.0" encoding="utf-8"?>
<a:theme xmlns:a="http://schemas.openxmlformats.org/drawingml/2006/main" name="编译课件">
  <a:themeElements>
    <a:clrScheme name="">
      <a:dk1>
        <a:srgbClr val="3366CC"/>
      </a:dk1>
      <a:lt1>
        <a:srgbClr val="FFFFFF"/>
      </a:lt1>
      <a:dk2>
        <a:srgbClr val="000088"/>
      </a:dk2>
      <a:lt2>
        <a:srgbClr val="FFFF66"/>
      </a:lt2>
      <a:accent1>
        <a:srgbClr val="FFFFFF"/>
      </a:accent1>
      <a:accent2>
        <a:srgbClr val="FFFF66"/>
      </a:accent2>
      <a:accent3>
        <a:srgbClr val="AAAAC3"/>
      </a:accent3>
      <a:accent4>
        <a:srgbClr val="DADADA"/>
      </a:accent4>
      <a:accent5>
        <a:srgbClr val="FFFFFF"/>
      </a:accent5>
      <a:accent6>
        <a:srgbClr val="E7E75C"/>
      </a:accent6>
      <a:hlink>
        <a:srgbClr val="FFCCFF"/>
      </a:hlink>
      <a:folHlink>
        <a:srgbClr val="99CCFF"/>
      </a:folHlink>
    </a:clrScheme>
    <a:fontScheme name="编译课件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编译课件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编译课件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编译课件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编译课件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编译课件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编译课件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编译课件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编译课件 8">
        <a:dk1>
          <a:srgbClr val="3366CC"/>
        </a:dk1>
        <a:lt1>
          <a:srgbClr val="FFFFFF"/>
        </a:lt1>
        <a:dk2>
          <a:srgbClr val="003366"/>
        </a:dk2>
        <a:lt2>
          <a:srgbClr val="FFFF66"/>
        </a:lt2>
        <a:accent1>
          <a:srgbClr val="FFFFFF"/>
        </a:accent1>
        <a:accent2>
          <a:srgbClr val="FFFF66"/>
        </a:accent2>
        <a:accent3>
          <a:srgbClr val="AAADB8"/>
        </a:accent3>
        <a:accent4>
          <a:srgbClr val="DADADA"/>
        </a:accent4>
        <a:accent5>
          <a:srgbClr val="FFFFFF"/>
        </a:accent5>
        <a:accent6>
          <a:srgbClr val="E7E75C"/>
        </a:accent6>
        <a:hlink>
          <a:srgbClr val="FF99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编译课件 9">
        <a:dk1>
          <a:srgbClr val="3366CC"/>
        </a:dk1>
        <a:lt1>
          <a:srgbClr val="FFFFFF"/>
        </a:lt1>
        <a:dk2>
          <a:srgbClr val="000099"/>
        </a:dk2>
        <a:lt2>
          <a:srgbClr val="FFFF66"/>
        </a:lt2>
        <a:accent1>
          <a:srgbClr val="FFFFFF"/>
        </a:accent1>
        <a:accent2>
          <a:srgbClr val="FFFF66"/>
        </a:accent2>
        <a:accent3>
          <a:srgbClr val="AAAACA"/>
        </a:accent3>
        <a:accent4>
          <a:srgbClr val="DADADA"/>
        </a:accent4>
        <a:accent5>
          <a:srgbClr val="FFFFFF"/>
        </a:accent5>
        <a:accent6>
          <a:srgbClr val="E7E75C"/>
        </a:accent6>
        <a:hlink>
          <a:srgbClr val="FFCC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D:\Documents and Settings\Administrator\Application Data\Microsoft\Templates\编译课件.pot</Template>
  <TotalTime>973</TotalTime>
  <Words>2737</Words>
  <Application>Microsoft Office PowerPoint</Application>
  <PresentationFormat>全屏显示(4:3)</PresentationFormat>
  <Paragraphs>320</Paragraphs>
  <Slides>27</Slides>
  <Notes>3</Notes>
  <HiddenSlides>1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Times New Roman</vt:lpstr>
      <vt:lpstr>宋体</vt:lpstr>
      <vt:lpstr>Arial</vt:lpstr>
      <vt:lpstr>隶书</vt:lpstr>
      <vt:lpstr>华文行楷</vt:lpstr>
      <vt:lpstr>黑体</vt:lpstr>
      <vt:lpstr>华文楷体</vt:lpstr>
      <vt:lpstr>编译课件</vt:lpstr>
      <vt:lpstr>Microsoft Visio 2000/2002 Drawing</vt:lpstr>
      <vt:lpstr>编 译 原 理</vt:lpstr>
      <vt:lpstr>课程专业地位 </vt:lpstr>
      <vt:lpstr>课程专业地位 </vt:lpstr>
      <vt:lpstr>课程专业地位 </vt:lpstr>
      <vt:lpstr>PowerPoint 演示文稿</vt:lpstr>
      <vt:lpstr>课程专业地位 </vt:lpstr>
      <vt:lpstr>第一章 引言 </vt:lpstr>
      <vt:lpstr>&lt;1&gt; 计算机语言举例（续1）</vt:lpstr>
      <vt:lpstr>&lt;1&gt; 计算机语言举例（续2）</vt:lpstr>
      <vt:lpstr>&lt;2&gt;  按范型划分的程序设计语言</vt:lpstr>
      <vt:lpstr>&lt;3&gt; 其他面向特定应用领域的语言</vt:lpstr>
      <vt:lpstr>1.2 语言之间的翻译 </vt:lpstr>
      <vt:lpstr>1.2 语言之间的翻译 </vt:lpstr>
      <vt:lpstr>1.3 编译器与解释器 </vt:lpstr>
      <vt:lpstr>1.3 编译器与解释器（续）</vt:lpstr>
      <vt:lpstr>1.4 编译器的工作原理与基本组成 1.4.1 通用程序设计语言的主要成份</vt:lpstr>
      <vt:lpstr>1.4.2 以阶段划分编译器 </vt:lpstr>
      <vt:lpstr>1.4.3 编译器各阶段的工作 </vt:lpstr>
      <vt:lpstr>1.4.3 编译器各阶段的工作（续1） </vt:lpstr>
      <vt:lpstr>1.4.3 编译器各阶段的工作（续2）</vt:lpstr>
      <vt:lpstr>1.4.3 编译器各阶段的工作（续3）</vt:lpstr>
      <vt:lpstr>1.4.4 编译器的分析/综合模式 </vt:lpstr>
      <vt:lpstr>1.4.5 编译器扫描的遍数 </vt:lpstr>
      <vt:lpstr>1.5 编译器的编写 </vt:lpstr>
      <vt:lpstr>1.6 本章小结 </vt:lpstr>
      <vt:lpstr>第一章  结束</vt:lpstr>
      <vt:lpstr>例6 有一Pascal的过程如下所示 </vt:lpstr>
    </vt:vector>
  </TitlesOfParts>
  <Company>software engineering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 译 原 理</dc:title>
  <dc:creator>liujian</dc:creator>
  <cp:lastModifiedBy>ZHANG nan</cp:lastModifiedBy>
  <cp:revision>166</cp:revision>
  <dcterms:created xsi:type="dcterms:W3CDTF">2004-01-11T03:06:17Z</dcterms:created>
  <dcterms:modified xsi:type="dcterms:W3CDTF">2021-03-03T16:20:18Z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